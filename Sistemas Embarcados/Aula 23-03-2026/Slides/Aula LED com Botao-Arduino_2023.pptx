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k object 16"/>
          <p:cNvSpPr/>
          <p:nvPr/>
        </p:nvSpPr>
        <p:spPr>
          <a:xfrm>
            <a:off x="499320" y="5945040"/>
            <a:ext cx="4897440" cy="912600"/>
          </a:xfrm>
          <a:custGeom>
            <a:avLst/>
            <a:gdLst>
              <a:gd name="textAreaLeft" fmla="*/ 0 w 4897440"/>
              <a:gd name="textAreaRight" fmla="*/ 4897800 w 4897440"/>
              <a:gd name="textAreaTop" fmla="*/ 0 h 912600"/>
              <a:gd name="textAreaBottom" fmla="*/ 912960 h 912600"/>
            </a:gdLst>
            <a:ahLst/>
            <a:cxnLst/>
            <a:rect l="textAreaLeft" t="textAreaTop" r="textAreaRight" b="textAreaBottom"/>
            <a:pathLst>
              <a:path w="4897755" h="913129">
                <a:moveTo>
                  <a:pt x="85714" y="21358"/>
                </a:moveTo>
                <a:lnTo>
                  <a:pt x="3636693" y="913063"/>
                </a:lnTo>
                <a:lnTo>
                  <a:pt x="4897393" y="913063"/>
                </a:lnTo>
                <a:lnTo>
                  <a:pt x="85714" y="21358"/>
                </a:lnTo>
                <a:close/>
              </a:path>
              <a:path w="4897755" h="913129">
                <a:moveTo>
                  <a:pt x="660" y="0"/>
                </a:moveTo>
                <a:lnTo>
                  <a:pt x="0" y="5473"/>
                </a:lnTo>
                <a:lnTo>
                  <a:pt x="85714" y="21358"/>
                </a:lnTo>
                <a:lnTo>
                  <a:pt x="660" y="0"/>
                </a:lnTo>
                <a:close/>
              </a:path>
            </a:pathLst>
          </a:custGeom>
          <a:solidFill>
            <a:srgbClr val="9FCA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bk object 17"/>
          <p:cNvSpPr/>
          <p:nvPr/>
        </p:nvSpPr>
        <p:spPr>
          <a:xfrm>
            <a:off x="485640" y="5938920"/>
            <a:ext cx="3651480" cy="919080"/>
          </a:xfrm>
          <a:custGeom>
            <a:avLst/>
            <a:gdLst>
              <a:gd name="textAreaLeft" fmla="*/ 0 w 3651480"/>
              <a:gd name="textAreaRight" fmla="*/ 3651840 w 3651480"/>
              <a:gd name="textAreaTop" fmla="*/ 0 h 919080"/>
              <a:gd name="textAreaBottom" fmla="*/ 919440 h 919080"/>
            </a:gdLst>
            <a:ahLst/>
            <a:cxnLst/>
            <a:rect l="textAreaLeft" t="textAreaTop" r="textAreaRight" b="textAreaBottom"/>
            <a:pathLst>
              <a:path w="3651885" h="919479">
                <a:moveTo>
                  <a:pt x="0" y="0"/>
                </a:moveTo>
                <a:lnTo>
                  <a:pt x="7924" y="6349"/>
                </a:lnTo>
                <a:lnTo>
                  <a:pt x="2868867" y="918982"/>
                </a:lnTo>
                <a:lnTo>
                  <a:pt x="3651882" y="9189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bk object 18"/>
          <p:cNvSpPr/>
          <p:nvPr/>
        </p:nvSpPr>
        <p:spPr>
          <a:xfrm>
            <a:off x="0" y="5789520"/>
            <a:ext cx="3398040" cy="1068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bk object 19"/>
          <p:cNvSpPr/>
          <p:nvPr/>
        </p:nvSpPr>
        <p:spPr>
          <a:xfrm>
            <a:off x="0" y="5784480"/>
            <a:ext cx="3371400" cy="1073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85800" y="2126160"/>
            <a:ext cx="7772040" cy="3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1"/>
          </p:nvPr>
        </p:nvSpPr>
        <p:spPr>
          <a:xfrm>
            <a:off x="3733920" y="6540120"/>
            <a:ext cx="457596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2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3"/>
          </p:nvPr>
        </p:nvSpPr>
        <p:spPr>
          <a:xfrm>
            <a:off x="8686440" y="6540120"/>
            <a:ext cx="261360" cy="20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556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2556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fld id="{D858CEB5-BDCF-4595-8481-C6AB6007148F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13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k object 16"/>
          <p:cNvSpPr/>
          <p:nvPr/>
        </p:nvSpPr>
        <p:spPr>
          <a:xfrm>
            <a:off x="499320" y="5945040"/>
            <a:ext cx="4897440" cy="912600"/>
          </a:xfrm>
          <a:custGeom>
            <a:avLst/>
            <a:gdLst>
              <a:gd name="textAreaLeft" fmla="*/ 0 w 4897440"/>
              <a:gd name="textAreaRight" fmla="*/ 4897800 w 4897440"/>
              <a:gd name="textAreaTop" fmla="*/ 0 h 912600"/>
              <a:gd name="textAreaBottom" fmla="*/ 912960 h 912600"/>
            </a:gdLst>
            <a:ahLst/>
            <a:cxnLst/>
            <a:rect l="textAreaLeft" t="textAreaTop" r="textAreaRight" b="textAreaBottom"/>
            <a:pathLst>
              <a:path w="4897755" h="913129">
                <a:moveTo>
                  <a:pt x="85714" y="21358"/>
                </a:moveTo>
                <a:lnTo>
                  <a:pt x="3636693" y="913063"/>
                </a:lnTo>
                <a:lnTo>
                  <a:pt x="4897393" y="913063"/>
                </a:lnTo>
                <a:lnTo>
                  <a:pt x="85714" y="21358"/>
                </a:lnTo>
                <a:close/>
              </a:path>
              <a:path w="4897755" h="913129">
                <a:moveTo>
                  <a:pt x="660" y="0"/>
                </a:moveTo>
                <a:lnTo>
                  <a:pt x="0" y="5473"/>
                </a:lnTo>
                <a:lnTo>
                  <a:pt x="85714" y="21358"/>
                </a:lnTo>
                <a:lnTo>
                  <a:pt x="660" y="0"/>
                </a:lnTo>
                <a:close/>
              </a:path>
            </a:pathLst>
          </a:custGeom>
          <a:solidFill>
            <a:srgbClr val="9FCA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bk object 17"/>
          <p:cNvSpPr/>
          <p:nvPr/>
        </p:nvSpPr>
        <p:spPr>
          <a:xfrm>
            <a:off x="485640" y="5938920"/>
            <a:ext cx="3651480" cy="919080"/>
          </a:xfrm>
          <a:custGeom>
            <a:avLst/>
            <a:gdLst>
              <a:gd name="textAreaLeft" fmla="*/ 0 w 3651480"/>
              <a:gd name="textAreaRight" fmla="*/ 3651840 w 3651480"/>
              <a:gd name="textAreaTop" fmla="*/ 0 h 919080"/>
              <a:gd name="textAreaBottom" fmla="*/ 919440 h 919080"/>
            </a:gdLst>
            <a:ahLst/>
            <a:cxnLst/>
            <a:rect l="textAreaLeft" t="textAreaTop" r="textAreaRight" b="textAreaBottom"/>
            <a:pathLst>
              <a:path w="3651885" h="919479">
                <a:moveTo>
                  <a:pt x="0" y="0"/>
                </a:moveTo>
                <a:lnTo>
                  <a:pt x="7924" y="6349"/>
                </a:lnTo>
                <a:lnTo>
                  <a:pt x="2868867" y="918982"/>
                </a:lnTo>
                <a:lnTo>
                  <a:pt x="3651882" y="9189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bk object 18"/>
          <p:cNvSpPr/>
          <p:nvPr/>
        </p:nvSpPr>
        <p:spPr>
          <a:xfrm>
            <a:off x="0" y="5789520"/>
            <a:ext cx="3398040" cy="1068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bk object 19"/>
          <p:cNvSpPr/>
          <p:nvPr/>
        </p:nvSpPr>
        <p:spPr>
          <a:xfrm>
            <a:off x="0" y="5784480"/>
            <a:ext cx="3371400" cy="1073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5800" y="2126160"/>
            <a:ext cx="7772040" cy="3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ftr" idx="4"/>
          </p:nvPr>
        </p:nvSpPr>
        <p:spPr>
          <a:xfrm>
            <a:off x="3733920" y="6540120"/>
            <a:ext cx="457596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5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6"/>
          </p:nvPr>
        </p:nvSpPr>
        <p:spPr>
          <a:xfrm>
            <a:off x="8686440" y="6540120"/>
            <a:ext cx="261360" cy="20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556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2556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fld id="{60CA91F8-314B-412D-9CB7-E564A2D7EB58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13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99320" y="5945040"/>
            <a:ext cx="4897440" cy="912600"/>
          </a:xfrm>
          <a:custGeom>
            <a:avLst/>
            <a:gdLst>
              <a:gd name="textAreaLeft" fmla="*/ 0 w 4897440"/>
              <a:gd name="textAreaRight" fmla="*/ 4897800 w 4897440"/>
              <a:gd name="textAreaTop" fmla="*/ 0 h 912600"/>
              <a:gd name="textAreaBottom" fmla="*/ 912960 h 912600"/>
            </a:gdLst>
            <a:ahLst/>
            <a:cxnLst/>
            <a:rect l="textAreaLeft" t="textAreaTop" r="textAreaRight" b="textAreaBottom"/>
            <a:pathLst>
              <a:path w="4897755" h="913129">
                <a:moveTo>
                  <a:pt x="85714" y="21358"/>
                </a:moveTo>
                <a:lnTo>
                  <a:pt x="3636693" y="913063"/>
                </a:lnTo>
                <a:lnTo>
                  <a:pt x="4897393" y="913063"/>
                </a:lnTo>
                <a:lnTo>
                  <a:pt x="85714" y="21358"/>
                </a:lnTo>
                <a:close/>
              </a:path>
              <a:path w="4897755" h="913129">
                <a:moveTo>
                  <a:pt x="660" y="0"/>
                </a:moveTo>
                <a:lnTo>
                  <a:pt x="0" y="5473"/>
                </a:lnTo>
                <a:lnTo>
                  <a:pt x="85714" y="21358"/>
                </a:lnTo>
                <a:lnTo>
                  <a:pt x="660" y="0"/>
                </a:lnTo>
                <a:close/>
              </a:path>
            </a:pathLst>
          </a:custGeom>
          <a:solidFill>
            <a:srgbClr val="9FCA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485640" y="5938920"/>
            <a:ext cx="3651480" cy="919080"/>
          </a:xfrm>
          <a:custGeom>
            <a:avLst/>
            <a:gdLst>
              <a:gd name="textAreaLeft" fmla="*/ 0 w 3651480"/>
              <a:gd name="textAreaRight" fmla="*/ 3651840 w 3651480"/>
              <a:gd name="textAreaTop" fmla="*/ 0 h 919080"/>
              <a:gd name="textAreaBottom" fmla="*/ 919440 h 919080"/>
            </a:gdLst>
            <a:ahLst/>
            <a:cxnLst/>
            <a:rect l="textAreaLeft" t="textAreaTop" r="textAreaRight" b="textAreaBottom"/>
            <a:pathLst>
              <a:path w="3651885" h="919479">
                <a:moveTo>
                  <a:pt x="0" y="0"/>
                </a:moveTo>
                <a:lnTo>
                  <a:pt x="7924" y="6349"/>
                </a:lnTo>
                <a:lnTo>
                  <a:pt x="2868867" y="918982"/>
                </a:lnTo>
                <a:lnTo>
                  <a:pt x="3651882" y="9189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5789520"/>
            <a:ext cx="3398040" cy="1068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0" y="5784480"/>
            <a:ext cx="3371400" cy="1073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45840" y="1446120"/>
            <a:ext cx="7017120" cy="105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929520" y="1750680"/>
            <a:ext cx="6733800" cy="416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16"/>
          </p:nvPr>
        </p:nvSpPr>
        <p:spPr>
          <a:xfrm>
            <a:off x="3733920" y="6540120"/>
            <a:ext cx="457596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&lt;rodapé&gt;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7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18"/>
          </p:nvPr>
        </p:nvSpPr>
        <p:spPr>
          <a:xfrm>
            <a:off x="8686440" y="6540120"/>
            <a:ext cx="261360" cy="20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556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2556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fld id="{B8FC8052-1DAA-414E-8348-2A9DF7240B37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99320" y="5945040"/>
            <a:ext cx="4897440" cy="912600"/>
          </a:xfrm>
          <a:custGeom>
            <a:avLst/>
            <a:gdLst>
              <a:gd name="textAreaLeft" fmla="*/ 0 w 4897440"/>
              <a:gd name="textAreaRight" fmla="*/ 4897800 w 4897440"/>
              <a:gd name="textAreaTop" fmla="*/ 0 h 912600"/>
              <a:gd name="textAreaBottom" fmla="*/ 912960 h 912600"/>
            </a:gdLst>
            <a:ahLst/>
            <a:cxnLst/>
            <a:rect l="textAreaLeft" t="textAreaTop" r="textAreaRight" b="textAreaBottom"/>
            <a:pathLst>
              <a:path w="4897755" h="913129">
                <a:moveTo>
                  <a:pt x="85714" y="21358"/>
                </a:moveTo>
                <a:lnTo>
                  <a:pt x="3636693" y="913063"/>
                </a:lnTo>
                <a:lnTo>
                  <a:pt x="4897393" y="913063"/>
                </a:lnTo>
                <a:lnTo>
                  <a:pt x="85714" y="21358"/>
                </a:lnTo>
                <a:close/>
              </a:path>
              <a:path w="4897755" h="913129">
                <a:moveTo>
                  <a:pt x="660" y="0"/>
                </a:moveTo>
                <a:lnTo>
                  <a:pt x="0" y="5473"/>
                </a:lnTo>
                <a:lnTo>
                  <a:pt x="85714" y="21358"/>
                </a:lnTo>
                <a:lnTo>
                  <a:pt x="660" y="0"/>
                </a:lnTo>
                <a:close/>
              </a:path>
            </a:pathLst>
          </a:custGeom>
          <a:solidFill>
            <a:srgbClr val="9FCA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485640" y="5938920"/>
            <a:ext cx="3651480" cy="919080"/>
          </a:xfrm>
          <a:custGeom>
            <a:avLst/>
            <a:gdLst>
              <a:gd name="textAreaLeft" fmla="*/ 0 w 3651480"/>
              <a:gd name="textAreaRight" fmla="*/ 3651840 w 3651480"/>
              <a:gd name="textAreaTop" fmla="*/ 0 h 919080"/>
              <a:gd name="textAreaBottom" fmla="*/ 919440 h 919080"/>
            </a:gdLst>
            <a:ahLst/>
            <a:cxnLst/>
            <a:rect l="textAreaLeft" t="textAreaTop" r="textAreaRight" b="textAreaBottom"/>
            <a:pathLst>
              <a:path w="3651885" h="919479">
                <a:moveTo>
                  <a:pt x="0" y="0"/>
                </a:moveTo>
                <a:lnTo>
                  <a:pt x="7924" y="6349"/>
                </a:lnTo>
                <a:lnTo>
                  <a:pt x="2868867" y="918982"/>
                </a:lnTo>
                <a:lnTo>
                  <a:pt x="3651882" y="9189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5789520"/>
            <a:ext cx="3398040" cy="1068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0" y="5784480"/>
            <a:ext cx="3371400" cy="1073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45840" y="1446120"/>
            <a:ext cx="7017120" cy="105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929520" y="1750680"/>
            <a:ext cx="6733800" cy="416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ftr" idx="10"/>
          </p:nvPr>
        </p:nvSpPr>
        <p:spPr>
          <a:xfrm>
            <a:off x="3733920" y="6540120"/>
            <a:ext cx="457596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&lt;rodapé&gt;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1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2"/>
          </p:nvPr>
        </p:nvSpPr>
        <p:spPr>
          <a:xfrm>
            <a:off x="8686440" y="6540120"/>
            <a:ext cx="261360" cy="20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556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2556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fld id="{87BA332C-03E8-4DD3-8827-62C8C5047229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99320" y="5945040"/>
            <a:ext cx="4897440" cy="912600"/>
          </a:xfrm>
          <a:custGeom>
            <a:avLst/>
            <a:gdLst>
              <a:gd name="textAreaLeft" fmla="*/ 0 w 4897440"/>
              <a:gd name="textAreaRight" fmla="*/ 4897800 w 4897440"/>
              <a:gd name="textAreaTop" fmla="*/ 0 h 912600"/>
              <a:gd name="textAreaBottom" fmla="*/ 912960 h 912600"/>
            </a:gdLst>
            <a:ahLst/>
            <a:cxnLst/>
            <a:rect l="textAreaLeft" t="textAreaTop" r="textAreaRight" b="textAreaBottom"/>
            <a:pathLst>
              <a:path w="4897755" h="913129">
                <a:moveTo>
                  <a:pt x="85714" y="21358"/>
                </a:moveTo>
                <a:lnTo>
                  <a:pt x="3636693" y="913063"/>
                </a:lnTo>
                <a:lnTo>
                  <a:pt x="4897393" y="913063"/>
                </a:lnTo>
                <a:lnTo>
                  <a:pt x="85714" y="21358"/>
                </a:lnTo>
                <a:close/>
              </a:path>
              <a:path w="4897755" h="913129">
                <a:moveTo>
                  <a:pt x="660" y="0"/>
                </a:moveTo>
                <a:lnTo>
                  <a:pt x="0" y="5473"/>
                </a:lnTo>
                <a:lnTo>
                  <a:pt x="85714" y="21358"/>
                </a:lnTo>
                <a:lnTo>
                  <a:pt x="660" y="0"/>
                </a:lnTo>
                <a:close/>
              </a:path>
            </a:pathLst>
          </a:custGeom>
          <a:solidFill>
            <a:srgbClr val="9FCA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485640" y="5938920"/>
            <a:ext cx="3651480" cy="919080"/>
          </a:xfrm>
          <a:custGeom>
            <a:avLst/>
            <a:gdLst>
              <a:gd name="textAreaLeft" fmla="*/ 0 w 3651480"/>
              <a:gd name="textAreaRight" fmla="*/ 3651840 w 3651480"/>
              <a:gd name="textAreaTop" fmla="*/ 0 h 919080"/>
              <a:gd name="textAreaBottom" fmla="*/ 919440 h 919080"/>
            </a:gdLst>
            <a:ahLst/>
            <a:cxnLst/>
            <a:rect l="textAreaLeft" t="textAreaTop" r="textAreaRight" b="textAreaBottom"/>
            <a:pathLst>
              <a:path w="3651885" h="919479">
                <a:moveTo>
                  <a:pt x="0" y="0"/>
                </a:moveTo>
                <a:lnTo>
                  <a:pt x="7924" y="6349"/>
                </a:lnTo>
                <a:lnTo>
                  <a:pt x="2868867" y="918982"/>
                </a:lnTo>
                <a:lnTo>
                  <a:pt x="3651882" y="9189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5789520"/>
            <a:ext cx="3398040" cy="1068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0" y="5784480"/>
            <a:ext cx="3371400" cy="1073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45840" y="1446120"/>
            <a:ext cx="7017120" cy="105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929520" y="1750680"/>
            <a:ext cx="6733800" cy="416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ftr" idx="13"/>
          </p:nvPr>
        </p:nvSpPr>
        <p:spPr>
          <a:xfrm>
            <a:off x="3733920" y="6540120"/>
            <a:ext cx="457596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&lt;rodapé&gt;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4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8686440" y="6540120"/>
            <a:ext cx="261360" cy="20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556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2556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fld id="{E1A1B2E3-4D21-4D22-847A-027C3E094685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99320" y="5945040"/>
            <a:ext cx="4897440" cy="912600"/>
          </a:xfrm>
          <a:custGeom>
            <a:avLst/>
            <a:gdLst>
              <a:gd name="textAreaLeft" fmla="*/ 0 w 4897440"/>
              <a:gd name="textAreaRight" fmla="*/ 4897800 w 4897440"/>
              <a:gd name="textAreaTop" fmla="*/ 0 h 912600"/>
              <a:gd name="textAreaBottom" fmla="*/ 912960 h 912600"/>
            </a:gdLst>
            <a:ahLst/>
            <a:cxnLst/>
            <a:rect l="textAreaLeft" t="textAreaTop" r="textAreaRight" b="textAreaBottom"/>
            <a:pathLst>
              <a:path w="4897755" h="913129">
                <a:moveTo>
                  <a:pt x="85714" y="21358"/>
                </a:moveTo>
                <a:lnTo>
                  <a:pt x="3636693" y="913063"/>
                </a:lnTo>
                <a:lnTo>
                  <a:pt x="4897393" y="913063"/>
                </a:lnTo>
                <a:lnTo>
                  <a:pt x="85714" y="21358"/>
                </a:lnTo>
                <a:close/>
              </a:path>
              <a:path w="4897755" h="913129">
                <a:moveTo>
                  <a:pt x="660" y="0"/>
                </a:moveTo>
                <a:lnTo>
                  <a:pt x="0" y="5473"/>
                </a:lnTo>
                <a:lnTo>
                  <a:pt x="85714" y="21358"/>
                </a:lnTo>
                <a:lnTo>
                  <a:pt x="660" y="0"/>
                </a:lnTo>
                <a:close/>
              </a:path>
            </a:pathLst>
          </a:custGeom>
          <a:solidFill>
            <a:srgbClr val="9FCA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485640" y="5938920"/>
            <a:ext cx="3651480" cy="919080"/>
          </a:xfrm>
          <a:custGeom>
            <a:avLst/>
            <a:gdLst>
              <a:gd name="textAreaLeft" fmla="*/ 0 w 3651480"/>
              <a:gd name="textAreaRight" fmla="*/ 3651840 w 3651480"/>
              <a:gd name="textAreaTop" fmla="*/ 0 h 919080"/>
              <a:gd name="textAreaBottom" fmla="*/ 919440 h 919080"/>
            </a:gdLst>
            <a:ahLst/>
            <a:cxnLst/>
            <a:rect l="textAreaLeft" t="textAreaTop" r="textAreaRight" b="textAreaBottom"/>
            <a:pathLst>
              <a:path w="3651885" h="919479">
                <a:moveTo>
                  <a:pt x="0" y="0"/>
                </a:moveTo>
                <a:lnTo>
                  <a:pt x="7924" y="6349"/>
                </a:lnTo>
                <a:lnTo>
                  <a:pt x="2868867" y="918982"/>
                </a:lnTo>
                <a:lnTo>
                  <a:pt x="3651882" y="9189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5789520"/>
            <a:ext cx="3398040" cy="1068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0" y="5784480"/>
            <a:ext cx="3371400" cy="1073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45840" y="1446120"/>
            <a:ext cx="7017120" cy="105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929520" y="1750680"/>
            <a:ext cx="6733800" cy="416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7"/>
          </p:nvPr>
        </p:nvSpPr>
        <p:spPr>
          <a:xfrm>
            <a:off x="3733920" y="6540120"/>
            <a:ext cx="457596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&lt;rodapé&gt;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8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9"/>
          </p:nvPr>
        </p:nvSpPr>
        <p:spPr>
          <a:xfrm>
            <a:off x="8686440" y="6540120"/>
            <a:ext cx="261360" cy="20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556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2556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fld id="{849D5690-E602-46BA-94CC-BDCB3188FF95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k object 16"/>
          <p:cNvSpPr/>
          <p:nvPr/>
        </p:nvSpPr>
        <p:spPr>
          <a:xfrm>
            <a:off x="499320" y="5945040"/>
            <a:ext cx="4897440" cy="912600"/>
          </a:xfrm>
          <a:custGeom>
            <a:avLst/>
            <a:gdLst>
              <a:gd name="textAreaLeft" fmla="*/ 0 w 4897440"/>
              <a:gd name="textAreaRight" fmla="*/ 4897800 w 4897440"/>
              <a:gd name="textAreaTop" fmla="*/ 0 h 912600"/>
              <a:gd name="textAreaBottom" fmla="*/ 912960 h 912600"/>
            </a:gdLst>
            <a:ahLst/>
            <a:cxnLst/>
            <a:rect l="textAreaLeft" t="textAreaTop" r="textAreaRight" b="textAreaBottom"/>
            <a:pathLst>
              <a:path w="4897755" h="913129">
                <a:moveTo>
                  <a:pt x="85714" y="21358"/>
                </a:moveTo>
                <a:lnTo>
                  <a:pt x="3636693" y="913063"/>
                </a:lnTo>
                <a:lnTo>
                  <a:pt x="4897393" y="913063"/>
                </a:lnTo>
                <a:lnTo>
                  <a:pt x="85714" y="21358"/>
                </a:lnTo>
                <a:close/>
              </a:path>
              <a:path w="4897755" h="913129">
                <a:moveTo>
                  <a:pt x="660" y="0"/>
                </a:moveTo>
                <a:lnTo>
                  <a:pt x="0" y="5473"/>
                </a:lnTo>
                <a:lnTo>
                  <a:pt x="85714" y="21358"/>
                </a:lnTo>
                <a:lnTo>
                  <a:pt x="660" y="0"/>
                </a:lnTo>
                <a:close/>
              </a:path>
            </a:pathLst>
          </a:custGeom>
          <a:solidFill>
            <a:srgbClr val="9FCA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bk object 17"/>
          <p:cNvSpPr/>
          <p:nvPr/>
        </p:nvSpPr>
        <p:spPr>
          <a:xfrm>
            <a:off x="485640" y="5938920"/>
            <a:ext cx="3651480" cy="919080"/>
          </a:xfrm>
          <a:custGeom>
            <a:avLst/>
            <a:gdLst>
              <a:gd name="textAreaLeft" fmla="*/ 0 w 3651480"/>
              <a:gd name="textAreaRight" fmla="*/ 3651840 w 3651480"/>
              <a:gd name="textAreaTop" fmla="*/ 0 h 919080"/>
              <a:gd name="textAreaBottom" fmla="*/ 919440 h 919080"/>
            </a:gdLst>
            <a:ahLst/>
            <a:cxnLst/>
            <a:rect l="textAreaLeft" t="textAreaTop" r="textAreaRight" b="textAreaBottom"/>
            <a:pathLst>
              <a:path w="3651885" h="919479">
                <a:moveTo>
                  <a:pt x="0" y="0"/>
                </a:moveTo>
                <a:lnTo>
                  <a:pt x="7924" y="6349"/>
                </a:lnTo>
                <a:lnTo>
                  <a:pt x="2868867" y="918982"/>
                </a:lnTo>
                <a:lnTo>
                  <a:pt x="3651882" y="9189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bk object 18"/>
          <p:cNvSpPr/>
          <p:nvPr/>
        </p:nvSpPr>
        <p:spPr>
          <a:xfrm>
            <a:off x="0" y="5789520"/>
            <a:ext cx="3398040" cy="1068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bk object 19"/>
          <p:cNvSpPr/>
          <p:nvPr/>
        </p:nvSpPr>
        <p:spPr>
          <a:xfrm>
            <a:off x="0" y="5784480"/>
            <a:ext cx="3371400" cy="1073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45840" y="1446120"/>
            <a:ext cx="7017120" cy="105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929520" y="1646640"/>
            <a:ext cx="2835720" cy="16184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709160" y="1577520"/>
            <a:ext cx="3977280" cy="214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19"/>
          </p:nvPr>
        </p:nvSpPr>
        <p:spPr>
          <a:xfrm>
            <a:off x="3733920" y="6540120"/>
            <a:ext cx="457596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&lt;rodapé&gt;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dt" idx="20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1"/>
          </p:nvPr>
        </p:nvSpPr>
        <p:spPr>
          <a:xfrm>
            <a:off x="8686440" y="6540120"/>
            <a:ext cx="261360" cy="20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556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2556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fld id="{E1A277C7-4959-4A65-8E36-BA0A0EC5A627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k object 16"/>
          <p:cNvSpPr/>
          <p:nvPr/>
        </p:nvSpPr>
        <p:spPr>
          <a:xfrm>
            <a:off x="499320" y="5945040"/>
            <a:ext cx="4897440" cy="912600"/>
          </a:xfrm>
          <a:custGeom>
            <a:avLst/>
            <a:gdLst>
              <a:gd name="textAreaLeft" fmla="*/ 0 w 4897440"/>
              <a:gd name="textAreaRight" fmla="*/ 4897800 w 4897440"/>
              <a:gd name="textAreaTop" fmla="*/ 0 h 912600"/>
              <a:gd name="textAreaBottom" fmla="*/ 912960 h 912600"/>
            </a:gdLst>
            <a:ahLst/>
            <a:cxnLst/>
            <a:rect l="textAreaLeft" t="textAreaTop" r="textAreaRight" b="textAreaBottom"/>
            <a:pathLst>
              <a:path w="4897755" h="913129">
                <a:moveTo>
                  <a:pt x="85714" y="21358"/>
                </a:moveTo>
                <a:lnTo>
                  <a:pt x="3636693" y="913063"/>
                </a:lnTo>
                <a:lnTo>
                  <a:pt x="4897393" y="913063"/>
                </a:lnTo>
                <a:lnTo>
                  <a:pt x="85714" y="21358"/>
                </a:lnTo>
                <a:close/>
              </a:path>
              <a:path w="4897755" h="913129">
                <a:moveTo>
                  <a:pt x="660" y="0"/>
                </a:moveTo>
                <a:lnTo>
                  <a:pt x="0" y="5473"/>
                </a:lnTo>
                <a:lnTo>
                  <a:pt x="85714" y="21358"/>
                </a:lnTo>
                <a:lnTo>
                  <a:pt x="660" y="0"/>
                </a:lnTo>
                <a:close/>
              </a:path>
            </a:pathLst>
          </a:custGeom>
          <a:solidFill>
            <a:srgbClr val="9FCA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bk object 17"/>
          <p:cNvSpPr/>
          <p:nvPr/>
        </p:nvSpPr>
        <p:spPr>
          <a:xfrm>
            <a:off x="485640" y="5938920"/>
            <a:ext cx="3651480" cy="919080"/>
          </a:xfrm>
          <a:custGeom>
            <a:avLst/>
            <a:gdLst>
              <a:gd name="textAreaLeft" fmla="*/ 0 w 3651480"/>
              <a:gd name="textAreaRight" fmla="*/ 3651840 w 3651480"/>
              <a:gd name="textAreaTop" fmla="*/ 0 h 919080"/>
              <a:gd name="textAreaBottom" fmla="*/ 919440 h 919080"/>
            </a:gdLst>
            <a:ahLst/>
            <a:cxnLst/>
            <a:rect l="textAreaLeft" t="textAreaTop" r="textAreaRight" b="textAreaBottom"/>
            <a:pathLst>
              <a:path w="3651885" h="919479">
                <a:moveTo>
                  <a:pt x="0" y="0"/>
                </a:moveTo>
                <a:lnTo>
                  <a:pt x="7924" y="6349"/>
                </a:lnTo>
                <a:lnTo>
                  <a:pt x="2868867" y="918982"/>
                </a:lnTo>
                <a:lnTo>
                  <a:pt x="3651882" y="9189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bk object 18"/>
          <p:cNvSpPr/>
          <p:nvPr/>
        </p:nvSpPr>
        <p:spPr>
          <a:xfrm>
            <a:off x="0" y="5789520"/>
            <a:ext cx="3398040" cy="1068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bk object 19"/>
          <p:cNvSpPr/>
          <p:nvPr/>
        </p:nvSpPr>
        <p:spPr>
          <a:xfrm>
            <a:off x="0" y="5784480"/>
            <a:ext cx="3371400" cy="1073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45840" y="1446120"/>
            <a:ext cx="7017120" cy="105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ftr" idx="22"/>
          </p:nvPr>
        </p:nvSpPr>
        <p:spPr>
          <a:xfrm>
            <a:off x="3733920" y="6540120"/>
            <a:ext cx="457596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&lt;rodapé&gt;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23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24"/>
          </p:nvPr>
        </p:nvSpPr>
        <p:spPr>
          <a:xfrm>
            <a:off x="8686440" y="6540120"/>
            <a:ext cx="261360" cy="20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556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2556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fld id="{AC7BB66A-0B7C-43CC-8BB7-A42290E6DFD9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bk object 16"/>
          <p:cNvSpPr/>
          <p:nvPr/>
        </p:nvSpPr>
        <p:spPr>
          <a:xfrm>
            <a:off x="499320" y="5945040"/>
            <a:ext cx="4897440" cy="912600"/>
          </a:xfrm>
          <a:custGeom>
            <a:avLst/>
            <a:gdLst>
              <a:gd name="textAreaLeft" fmla="*/ 0 w 4897440"/>
              <a:gd name="textAreaRight" fmla="*/ 4897800 w 4897440"/>
              <a:gd name="textAreaTop" fmla="*/ 0 h 912600"/>
              <a:gd name="textAreaBottom" fmla="*/ 912960 h 912600"/>
            </a:gdLst>
            <a:ahLst/>
            <a:cxnLst/>
            <a:rect l="textAreaLeft" t="textAreaTop" r="textAreaRight" b="textAreaBottom"/>
            <a:pathLst>
              <a:path w="4897755" h="913129">
                <a:moveTo>
                  <a:pt x="85714" y="21358"/>
                </a:moveTo>
                <a:lnTo>
                  <a:pt x="3636693" y="913063"/>
                </a:lnTo>
                <a:lnTo>
                  <a:pt x="4897393" y="913063"/>
                </a:lnTo>
                <a:lnTo>
                  <a:pt x="85714" y="21358"/>
                </a:lnTo>
                <a:close/>
              </a:path>
              <a:path w="4897755" h="913129">
                <a:moveTo>
                  <a:pt x="660" y="0"/>
                </a:moveTo>
                <a:lnTo>
                  <a:pt x="0" y="5473"/>
                </a:lnTo>
                <a:lnTo>
                  <a:pt x="85714" y="21358"/>
                </a:lnTo>
                <a:lnTo>
                  <a:pt x="660" y="0"/>
                </a:lnTo>
                <a:close/>
              </a:path>
            </a:pathLst>
          </a:custGeom>
          <a:solidFill>
            <a:srgbClr val="9FCA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bk object 17"/>
          <p:cNvSpPr/>
          <p:nvPr/>
        </p:nvSpPr>
        <p:spPr>
          <a:xfrm>
            <a:off x="485640" y="5938920"/>
            <a:ext cx="3651480" cy="919080"/>
          </a:xfrm>
          <a:custGeom>
            <a:avLst/>
            <a:gdLst>
              <a:gd name="textAreaLeft" fmla="*/ 0 w 3651480"/>
              <a:gd name="textAreaRight" fmla="*/ 3651840 w 3651480"/>
              <a:gd name="textAreaTop" fmla="*/ 0 h 919080"/>
              <a:gd name="textAreaBottom" fmla="*/ 919440 h 919080"/>
            </a:gdLst>
            <a:ahLst/>
            <a:cxnLst/>
            <a:rect l="textAreaLeft" t="textAreaTop" r="textAreaRight" b="textAreaBottom"/>
            <a:pathLst>
              <a:path w="3651885" h="919479">
                <a:moveTo>
                  <a:pt x="0" y="0"/>
                </a:moveTo>
                <a:lnTo>
                  <a:pt x="7924" y="6349"/>
                </a:lnTo>
                <a:lnTo>
                  <a:pt x="2868867" y="918982"/>
                </a:lnTo>
                <a:lnTo>
                  <a:pt x="3651882" y="9189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18"/>
          <p:cNvSpPr/>
          <p:nvPr/>
        </p:nvSpPr>
        <p:spPr>
          <a:xfrm>
            <a:off x="0" y="5789520"/>
            <a:ext cx="3398040" cy="1068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bk object 19"/>
          <p:cNvSpPr/>
          <p:nvPr/>
        </p:nvSpPr>
        <p:spPr>
          <a:xfrm>
            <a:off x="0" y="5784480"/>
            <a:ext cx="3371400" cy="1073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ftr" idx="25"/>
          </p:nvPr>
        </p:nvSpPr>
        <p:spPr>
          <a:xfrm>
            <a:off x="3733920" y="6540120"/>
            <a:ext cx="4575960" cy="18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&lt;rodapé&gt;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dt" idx="26"/>
          </p:nvPr>
        </p:nvSpPr>
        <p:spPr>
          <a:xfrm>
            <a:off x="457200" y="6378120"/>
            <a:ext cx="21027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27"/>
          </p:nvPr>
        </p:nvSpPr>
        <p:spPr>
          <a:xfrm>
            <a:off x="8686440" y="6540120"/>
            <a:ext cx="261360" cy="20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556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2556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fld id="{C07B9EBF-F030-43D3-8ECF-C5EF3F57199A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object 7"/>
          <p:cNvSpPr/>
          <p:nvPr/>
        </p:nvSpPr>
        <p:spPr>
          <a:xfrm>
            <a:off x="336240" y="3400560"/>
            <a:ext cx="8451000" cy="16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2275920" indent="-2263680" defTabSz="91440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pt-BR" sz="5400" b="0" u="none" spc="164" strike="noStrike">
                <a:solidFill>
                  <a:srgbClr val="DA1F28"/>
                </a:solidFill>
                <a:effectLst/>
                <a:uFillTx/>
                <a:latin typeface="Arial"/>
              </a:rPr>
              <a:t>Eletrônica </a:t>
            </a:r>
            <a:r>
              <a:rPr lang="pt-BR" sz="5400" b="0" u="none" spc="6" strike="noStrike">
                <a:solidFill>
                  <a:srgbClr val="DA1F28"/>
                </a:solidFill>
                <a:effectLst/>
                <a:uFillTx/>
                <a:latin typeface="Arial"/>
              </a:rPr>
              <a:t>e </a:t>
            </a:r>
            <a:r>
              <a:rPr lang="pt-BR" sz="5400" b="0" u="none" spc="156" strike="noStrike">
                <a:solidFill>
                  <a:srgbClr val="DA1F28"/>
                </a:solidFill>
                <a:effectLst/>
                <a:uFillTx/>
                <a:latin typeface="Arial"/>
              </a:rPr>
              <a:t>Programação  </a:t>
            </a:r>
            <a:r>
              <a:rPr lang="pt-BR" sz="5400" b="0" u="none" spc="269" strike="noStrike">
                <a:solidFill>
                  <a:srgbClr val="DA1F28"/>
                </a:solidFill>
                <a:effectLst/>
                <a:uFillTx/>
                <a:latin typeface="Arial"/>
              </a:rPr>
              <a:t>em</a:t>
            </a:r>
            <a:r>
              <a:rPr lang="pt-BR" sz="5400" b="0" u="none" spc="204" strike="noStrike">
                <a:solidFill>
                  <a:srgbClr val="DA1F28"/>
                </a:solidFill>
                <a:effectLst/>
                <a:uFillTx/>
                <a:latin typeface="Arial"/>
              </a:rPr>
              <a:t> </a:t>
            </a:r>
            <a:r>
              <a:rPr lang="pt-BR" sz="5400" b="0" u="none" spc="326" strike="noStrike">
                <a:solidFill>
                  <a:srgbClr val="DA1F28"/>
                </a:solidFill>
                <a:effectLst/>
                <a:uFillTx/>
                <a:latin typeface="Arial"/>
              </a:rPr>
              <a:t>Arduino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CaixaDeTexto 8"/>
          <p:cNvSpPr/>
          <p:nvPr/>
        </p:nvSpPr>
        <p:spPr>
          <a:xfrm>
            <a:off x="466200" y="2054880"/>
            <a:ext cx="819036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5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Fundamento de Informática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http://eteczonaleste.com.br/2018/assets/img/logo-etec.png"/>
          <p:cNvPicPr/>
          <p:nvPr/>
        </p:nvPicPr>
        <p:blipFill>
          <a:blip r:embed="rId1"/>
          <a:stretch/>
        </p:blipFill>
        <p:spPr>
          <a:xfrm>
            <a:off x="6934320" y="5181480"/>
            <a:ext cx="1847520" cy="14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CaixaDeTexto 9"/>
          <p:cNvSpPr/>
          <p:nvPr/>
        </p:nvSpPr>
        <p:spPr>
          <a:xfrm>
            <a:off x="321480" y="6095880"/>
            <a:ext cx="32090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Inventar e Reciclar para Educar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4" descr="Resultado de imagem para logotipo arduino"/>
          <p:cNvPicPr/>
          <p:nvPr/>
        </p:nvPicPr>
        <p:blipFill>
          <a:blip r:embed="rId2"/>
          <a:stretch/>
        </p:blipFill>
        <p:spPr>
          <a:xfrm>
            <a:off x="609480" y="233640"/>
            <a:ext cx="1675800" cy="1823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55920" y="1613520"/>
            <a:ext cx="2997360" cy="7747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268560" algn="l"/>
              </a:tabLst>
            </a:pPr>
            <a:r>
              <a:rPr lang="pt-BR" sz="1800" b="0" u="none" spc="-505" strike="noStrike">
                <a:solidFill>
                  <a:srgbClr val="2CA1BE"/>
                </a:solidFill>
                <a:effectLst/>
                <a:uFillTx/>
                <a:latin typeface="Arial"/>
              </a:rPr>
              <a:t></a:t>
            </a:r>
            <a:r>
              <a:rPr lang="pt-BR" sz="1800" b="0" u="none" spc="-505" strike="noStrike">
                <a:solidFill>
                  <a:srgbClr val="2CA1BE"/>
                </a:solidFill>
                <a:effectLst/>
                <a:uFillTx/>
                <a:latin typeface="Arial"/>
              </a:rPr>
              <a:t>	</a:t>
            </a:r>
            <a:r>
              <a:rPr lang="pt-BR" sz="2700" b="0" u="none" spc="85" strike="noStrike">
                <a:solidFill>
                  <a:srgbClr val="000000"/>
                </a:solidFill>
                <a:effectLst/>
                <a:uFillTx/>
                <a:latin typeface="Arial"/>
              </a:rPr>
              <a:t>Lendo </a:t>
            </a:r>
            <a:r>
              <a:rPr lang="pt-BR" sz="2700" b="0" u="none" spc="221" strike="noStrike">
                <a:solidFill>
                  <a:srgbClr val="000000"/>
                </a:solidFill>
                <a:effectLst/>
                <a:uFillTx/>
                <a:latin typeface="Arial"/>
              </a:rPr>
              <a:t>um</a:t>
            </a:r>
            <a:r>
              <a:rPr lang="pt-BR" sz="2700" b="0" u="none" spc="5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pt-BR" sz="2700" b="0" u="none" spc="145" strike="noStrike">
                <a:solidFill>
                  <a:srgbClr val="000000"/>
                </a:solidFill>
                <a:effectLst/>
                <a:uFillTx/>
                <a:latin typeface="Arial"/>
              </a:rPr>
              <a:t>botão</a:t>
            </a:r>
            <a:endParaRPr lang="pt-BR" sz="2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object 4"/>
          <p:cNvSpPr/>
          <p:nvPr/>
        </p:nvSpPr>
        <p:spPr>
          <a:xfrm>
            <a:off x="939600" y="2068920"/>
            <a:ext cx="6733800" cy="32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41200" indent="-228600" defTabSz="91440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Font typeface="Verdana"/>
              <a:buChar char="◦"/>
              <a:tabLst>
                <a:tab pos="241920" algn="l"/>
                <a:tab pos="1056600" algn="l"/>
                <a:tab pos="1633680" algn="l"/>
                <a:tab pos="2300760" algn="l"/>
                <a:tab pos="3324240" algn="l"/>
                <a:tab pos="4301640" algn="l"/>
                <a:tab pos="5458320" algn="l"/>
                <a:tab pos="6103800" algn="l"/>
              </a:tabLst>
            </a:pPr>
            <a:r>
              <a:rPr lang="pt-BR" sz="2300" b="0" u="none" spc="-26" strike="noStrike">
                <a:solidFill>
                  <a:schemeClr val="dk1"/>
                </a:solidFill>
                <a:effectLst/>
                <a:uFillTx/>
                <a:latin typeface="Arial"/>
              </a:rPr>
              <a:t>Para</a:t>
            </a:r>
            <a:r>
              <a:rPr lang="pt-BR" sz="2300" b="0" u="none" spc="-26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pt-BR" sz="2300" b="0" u="none" spc="111" strike="noStrike">
                <a:solidFill>
                  <a:srgbClr val="FF0000"/>
                </a:solidFill>
                <a:effectLst/>
                <a:uFillTx/>
                <a:latin typeface="Arial"/>
              </a:rPr>
              <a:t>le</a:t>
            </a:r>
            <a:r>
              <a:rPr lang="pt-BR" sz="2300" b="0" u="none" spc="99" strike="noStrike">
                <a:solidFill>
                  <a:srgbClr val="FF0000"/>
                </a:solidFill>
                <a:effectLst/>
                <a:uFillTx/>
                <a:latin typeface="Arial"/>
              </a:rPr>
              <a:t>r</a:t>
            </a:r>
            <a:r>
              <a:rPr lang="pt-BR" sz="23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	</a:t>
            </a:r>
            <a:r>
              <a:rPr lang="pt-BR" sz="2300" b="0" u="none" spc="145" strike="noStrike">
                <a:solidFill>
                  <a:srgbClr val="FF0000"/>
                </a:solidFill>
                <a:effectLst/>
                <a:uFillTx/>
                <a:latin typeface="Arial"/>
              </a:rPr>
              <a:t>u</a:t>
            </a:r>
            <a:r>
              <a:rPr lang="pt-BR" sz="2300" b="0" u="none" spc="230" strike="noStrike">
                <a:solidFill>
                  <a:srgbClr val="FF0000"/>
                </a:solidFill>
                <a:effectLst/>
                <a:uFillTx/>
                <a:latin typeface="Arial"/>
              </a:rPr>
              <a:t>m</a:t>
            </a:r>
            <a:r>
              <a:rPr lang="pt-BR" sz="23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	</a:t>
            </a:r>
            <a:r>
              <a:rPr lang="pt-BR" sz="2300" b="0" u="none" spc="145" strike="noStrike">
                <a:solidFill>
                  <a:srgbClr val="FF0000"/>
                </a:solidFill>
                <a:effectLst/>
                <a:uFillTx/>
                <a:latin typeface="Arial"/>
              </a:rPr>
              <a:t>b</a:t>
            </a:r>
            <a:r>
              <a:rPr lang="pt-BR" sz="2300" b="0" u="none" spc="139" strike="noStrike">
                <a:solidFill>
                  <a:srgbClr val="FF0000"/>
                </a:solidFill>
                <a:effectLst/>
                <a:uFillTx/>
                <a:latin typeface="Arial"/>
              </a:rPr>
              <a:t>o</a:t>
            </a:r>
            <a:r>
              <a:rPr lang="pt-BR" sz="2300" b="0" u="none" spc="99" strike="noStrike">
                <a:solidFill>
                  <a:srgbClr val="FF0000"/>
                </a:solidFill>
                <a:effectLst/>
                <a:uFillTx/>
                <a:latin typeface="Arial"/>
              </a:rPr>
              <a:t>tã</a:t>
            </a:r>
            <a:r>
              <a:rPr lang="pt-BR" sz="2300" b="0" u="none" spc="139" strike="noStrike">
                <a:solidFill>
                  <a:srgbClr val="FF0000"/>
                </a:solidFill>
                <a:effectLst/>
                <a:uFillTx/>
                <a:latin typeface="Arial"/>
              </a:rPr>
              <a:t>o</a:t>
            </a:r>
            <a:r>
              <a:rPr lang="pt-BR" sz="23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	</a:t>
            </a:r>
            <a:r>
              <a:rPr lang="pt-BR" sz="2300" b="0" u="none" spc="71" strike="noStrike">
                <a:solidFill>
                  <a:schemeClr val="dk1"/>
                </a:solidFill>
                <a:effectLst/>
                <a:uFillTx/>
                <a:latin typeface="Arial"/>
              </a:rPr>
              <a:t>bast</a:t>
            </a:r>
            <a:r>
              <a:rPr lang="pt-BR" sz="2300" b="0" u="none" spc="91" strike="noStrike">
                <a:solidFill>
                  <a:schemeClr val="dk1"/>
                </a:solidFill>
                <a:effectLst/>
                <a:uFillTx/>
                <a:latin typeface="Arial"/>
              </a:rPr>
              <a:t>a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pt-BR" sz="2300" b="0" u="none" spc="96" strike="noStrike">
                <a:solidFill>
                  <a:schemeClr val="dk1"/>
                </a:solidFill>
                <a:effectLst/>
                <a:uFillTx/>
                <a:latin typeface="Arial"/>
              </a:rPr>
              <a:t>li</a:t>
            </a:r>
            <a:r>
              <a:rPr lang="pt-BR" sz="2300" b="0" u="none" spc="244" strike="noStrike">
                <a:solidFill>
                  <a:schemeClr val="dk1"/>
                </a:solidFill>
                <a:effectLst/>
                <a:uFillTx/>
                <a:latin typeface="Arial"/>
              </a:rPr>
              <a:t>g</a:t>
            </a:r>
            <a:r>
              <a:rPr lang="pt-BR" sz="2300" b="0" u="none" spc="-11" strike="noStrike">
                <a:solidFill>
                  <a:schemeClr val="dk1"/>
                </a:solidFill>
                <a:effectLst/>
                <a:uFillTx/>
                <a:latin typeface="Arial"/>
              </a:rPr>
              <a:t>á</a:t>
            </a:r>
            <a:r>
              <a:rPr lang="pt-BR" sz="2300" b="0" u="none" spc="561" strike="noStrike">
                <a:solidFill>
                  <a:schemeClr val="dk1"/>
                </a:solidFill>
                <a:effectLst/>
                <a:uFillTx/>
                <a:latin typeface="Arial"/>
              </a:rPr>
              <a:t>-</a:t>
            </a:r>
            <a:r>
              <a:rPr lang="pt-BR" sz="2300" b="0" u="none" spc="85" strike="noStrike">
                <a:solidFill>
                  <a:schemeClr val="dk1"/>
                </a:solidFill>
                <a:effectLst/>
                <a:uFillTx/>
                <a:latin typeface="Arial"/>
              </a:rPr>
              <a:t>l</a:t>
            </a:r>
            <a:r>
              <a:rPr lang="pt-BR" sz="2300" b="0" u="none" spc="204" strike="noStrike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pt-BR" sz="2300" b="0" u="none" spc="113" strike="noStrike">
                <a:solidFill>
                  <a:schemeClr val="dk1"/>
                </a:solidFill>
                <a:effectLst/>
                <a:uFillTx/>
                <a:latin typeface="Arial"/>
              </a:rPr>
              <a:t>em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pt-BR" sz="2300" b="0" u="none" spc="125" strike="noStrike">
                <a:solidFill>
                  <a:schemeClr val="dk1"/>
                </a:solidFill>
                <a:effectLst/>
                <a:uFillTx/>
                <a:latin typeface="Arial"/>
              </a:rPr>
              <a:t>uma</a:t>
            </a:r>
            <a:endParaRPr lang="pt-B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1200" defTabSz="914400">
              <a:lnSpc>
                <a:spcPct val="100000"/>
              </a:lnSpc>
              <a:tabLst>
                <a:tab pos="241920" algn="l"/>
                <a:tab pos="1056600" algn="l"/>
                <a:tab pos="1633680" algn="l"/>
                <a:tab pos="2300760" algn="l"/>
                <a:tab pos="3324240" algn="l"/>
                <a:tab pos="4301640" algn="l"/>
                <a:tab pos="5458320" algn="l"/>
                <a:tab pos="6103800" algn="l"/>
              </a:tabLst>
            </a:pPr>
            <a:r>
              <a:rPr lang="pt-BR" sz="2300" b="0" u="none" spc="136" strike="noStrike">
                <a:solidFill>
                  <a:srgbClr val="FF0000"/>
                </a:solidFill>
                <a:effectLst/>
                <a:uFillTx/>
                <a:latin typeface="Arial"/>
              </a:rPr>
              <a:t>porta</a:t>
            </a:r>
            <a:r>
              <a:rPr lang="pt-BR" sz="2300" b="0" u="none" spc="65" strike="noStrike">
                <a:solidFill>
                  <a:srgbClr val="FF0000"/>
                </a:solidFill>
                <a:effectLst/>
                <a:uFillTx/>
                <a:latin typeface="Arial"/>
              </a:rPr>
              <a:t> </a:t>
            </a:r>
            <a:r>
              <a:rPr lang="pt-BR" sz="2300" b="0" u="none" spc="136" strike="noStrike">
                <a:solidFill>
                  <a:srgbClr val="FF0000"/>
                </a:solidFill>
                <a:effectLst/>
                <a:uFillTx/>
                <a:latin typeface="Arial"/>
              </a:rPr>
              <a:t>digital</a:t>
            </a:r>
            <a:r>
              <a:rPr lang="pt-BR" sz="2300" b="0" u="none" spc="136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pt-B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1200" indent="-228600" algn="just" defTabSz="914400">
              <a:lnSpc>
                <a:spcPct val="97000"/>
              </a:lnSpc>
              <a:spcBef>
                <a:spcPts val="371"/>
              </a:spcBef>
              <a:buClr>
                <a:srgbClr val="2CA1BE"/>
              </a:buClr>
              <a:buFont typeface="Verdana"/>
              <a:buChar char="◦"/>
              <a:tabLst>
                <a:tab pos="241920" algn="l"/>
              </a:tabLst>
            </a:pPr>
            <a:r>
              <a:rPr lang="pt-BR" sz="2300" b="0" u="none" spc="-26" strike="noStrike">
                <a:solidFill>
                  <a:schemeClr val="dk1"/>
                </a:solidFill>
                <a:effectLst/>
                <a:uFillTx/>
                <a:latin typeface="Arial"/>
              </a:rPr>
              <a:t>Para </a:t>
            </a:r>
            <a:r>
              <a:rPr lang="pt-BR" sz="2300" b="0" u="none" spc="105" strike="noStrike">
                <a:solidFill>
                  <a:schemeClr val="dk1"/>
                </a:solidFill>
                <a:effectLst/>
                <a:uFillTx/>
                <a:latin typeface="Arial"/>
              </a:rPr>
              <a:t>que </a:t>
            </a:r>
            <a:r>
              <a:rPr lang="pt-BR" sz="2300" b="0" u="none" spc="190" strike="noStrike">
                <a:solidFill>
                  <a:schemeClr val="dk1"/>
                </a:solidFill>
                <a:effectLst/>
                <a:uFillTx/>
                <a:latin typeface="Arial"/>
              </a:rPr>
              <a:t>um </a:t>
            </a:r>
            <a:r>
              <a:rPr lang="pt-BR" sz="2300" b="0" u="none" spc="119" strike="noStrike">
                <a:solidFill>
                  <a:schemeClr val="dk1"/>
                </a:solidFill>
                <a:effectLst/>
                <a:uFillTx/>
                <a:latin typeface="Arial"/>
              </a:rPr>
              <a:t>circuito </a:t>
            </a:r>
            <a:r>
              <a:rPr lang="pt-BR" sz="2300" b="0" u="none" spc="130" strike="noStrike">
                <a:solidFill>
                  <a:schemeClr val="dk1"/>
                </a:solidFill>
                <a:effectLst/>
                <a:uFillTx/>
                <a:latin typeface="Arial"/>
              </a:rPr>
              <a:t>com </a:t>
            </a:r>
            <a:r>
              <a:rPr lang="pt-BR" sz="2300" b="0" u="none" spc="125" strike="noStrike">
                <a:solidFill>
                  <a:schemeClr val="dk1"/>
                </a:solidFill>
                <a:effectLst/>
                <a:uFillTx/>
                <a:latin typeface="Arial"/>
              </a:rPr>
              <a:t>botão </a:t>
            </a:r>
            <a:r>
              <a:rPr lang="pt-BR" sz="2300" b="0" u="none" spc="113" strike="noStrike">
                <a:solidFill>
                  <a:schemeClr val="dk1"/>
                </a:solidFill>
                <a:effectLst/>
                <a:uFillTx/>
                <a:latin typeface="Arial"/>
              </a:rPr>
              <a:t>funcione  </a:t>
            </a:r>
            <a:r>
              <a:rPr lang="pt-BR" sz="2300" b="0" u="none" spc="91" strike="noStrike">
                <a:solidFill>
                  <a:schemeClr val="dk1"/>
                </a:solidFill>
                <a:effectLst/>
                <a:uFillTx/>
                <a:latin typeface="Arial"/>
              </a:rPr>
              <a:t>adequadamente, </a:t>
            </a:r>
            <a:r>
              <a:rPr lang="pt-BR" sz="2300" b="0" u="none" spc="136" strike="noStrike">
                <a:solidFill>
                  <a:schemeClr val="dk1"/>
                </a:solidFill>
                <a:effectLst/>
                <a:uFillTx/>
                <a:latin typeface="Arial"/>
              </a:rPr>
              <a:t>ou </a:t>
            </a:r>
            <a:r>
              <a:rPr lang="pt-BR" sz="2300" b="0" u="none" spc="60" strike="noStrike">
                <a:solidFill>
                  <a:schemeClr val="dk1"/>
                </a:solidFill>
                <a:effectLst/>
                <a:uFillTx/>
                <a:latin typeface="Arial"/>
              </a:rPr>
              <a:t>seja,  </a:t>
            </a:r>
            <a:r>
              <a:rPr lang="pt-BR" sz="2300" b="0" u="none" spc="79" strike="noStrike">
                <a:solidFill>
                  <a:schemeClr val="dk1"/>
                </a:solidFill>
                <a:effectLst/>
                <a:uFillTx/>
                <a:latin typeface="Arial"/>
              </a:rPr>
              <a:t>sem </a:t>
            </a:r>
            <a:r>
              <a:rPr lang="pt-BR" sz="2300" b="0" u="none" spc="105" strike="noStrike">
                <a:solidFill>
                  <a:schemeClr val="dk1"/>
                </a:solidFill>
                <a:effectLst/>
                <a:uFillTx/>
                <a:latin typeface="Arial"/>
              </a:rPr>
              <a:t>ruídos, 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é </a:t>
            </a:r>
            <a:r>
              <a:rPr lang="pt-BR" sz="23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</a:t>
            </a:r>
            <a:r>
              <a:rPr lang="pt-BR" sz="2300" b="0" u="none" spc="71" strike="noStrike">
                <a:solidFill>
                  <a:srgbClr val="FF0000"/>
                </a:solidFill>
                <a:effectLst/>
                <a:uFillTx/>
                <a:latin typeface="Arial"/>
              </a:rPr>
              <a:t>necessário </a:t>
            </a:r>
            <a:r>
              <a:rPr lang="pt-BR" sz="2300" b="0" u="none" spc="136" strike="noStrike">
                <a:solidFill>
                  <a:srgbClr val="FF0000"/>
                </a:solidFill>
                <a:effectLst/>
                <a:uFillTx/>
                <a:latin typeface="Arial"/>
              </a:rPr>
              <a:t>o </a:t>
            </a:r>
            <a:r>
              <a:rPr lang="pt-BR" sz="2300" b="0" u="none" spc="96" strike="noStrike">
                <a:solidFill>
                  <a:srgbClr val="FF0000"/>
                </a:solidFill>
                <a:effectLst/>
                <a:uFillTx/>
                <a:latin typeface="Arial"/>
              </a:rPr>
              <a:t>uso </a:t>
            </a:r>
            <a:r>
              <a:rPr lang="pt-BR" sz="2300" b="0" u="none" spc="85" strike="noStrike">
                <a:solidFill>
                  <a:srgbClr val="FF0000"/>
                </a:solidFill>
                <a:effectLst/>
                <a:uFillTx/>
                <a:latin typeface="Arial"/>
              </a:rPr>
              <a:t>de </a:t>
            </a:r>
            <a:r>
              <a:rPr lang="pt-BR" sz="2300" b="0" u="none" spc="91" strike="noStrike">
                <a:solidFill>
                  <a:srgbClr val="FF0000"/>
                </a:solidFill>
                <a:effectLst/>
                <a:uFillTx/>
                <a:latin typeface="Arial"/>
              </a:rPr>
              <a:t>resistores </a:t>
            </a:r>
            <a:r>
              <a:rPr lang="pt-BR" sz="2400" b="0" i="1" u="none" spc="139" strike="noStrike">
                <a:solidFill>
                  <a:schemeClr val="dk1"/>
                </a:solidFill>
                <a:effectLst/>
                <a:uFillTx/>
                <a:latin typeface="Arial"/>
              </a:rPr>
              <a:t>pull-down </a:t>
            </a:r>
            <a:r>
              <a:rPr lang="pt-BR" sz="2300" b="0" u="none" spc="139" strike="noStrike">
                <a:solidFill>
                  <a:srgbClr val="FF0000"/>
                </a:solidFill>
                <a:effectLst/>
                <a:uFillTx/>
                <a:latin typeface="Arial"/>
              </a:rPr>
              <a:t>ou </a:t>
            </a:r>
            <a:r>
              <a:rPr lang="pt-BR" sz="2300" b="0" u="none" spc="139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pt-BR" sz="2400" b="0" i="1" u="none" spc="159" strike="noStrike">
                <a:solidFill>
                  <a:schemeClr val="dk1"/>
                </a:solidFill>
                <a:effectLst/>
                <a:uFillTx/>
                <a:latin typeface="Arial"/>
              </a:rPr>
              <a:t>pull-up</a:t>
            </a:r>
            <a:r>
              <a:rPr lang="pt-BR" sz="2300" b="0" u="none" spc="159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pt-B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1200" indent="-228600" algn="just" defTabSz="914400">
              <a:lnSpc>
                <a:spcPts val="2761"/>
              </a:lnSpc>
              <a:spcBef>
                <a:spcPts val="374"/>
              </a:spcBef>
              <a:buClr>
                <a:srgbClr val="2CA1BE"/>
              </a:buClr>
              <a:buFont typeface="Verdana"/>
              <a:buChar char="◦"/>
              <a:tabLst>
                <a:tab pos="241920" algn="l"/>
              </a:tabLst>
            </a:pPr>
            <a:r>
              <a:rPr lang="pt-BR" sz="2300" b="0" u="none" spc="11" strike="noStrike">
                <a:solidFill>
                  <a:schemeClr val="dk1"/>
                </a:solidFill>
                <a:effectLst/>
                <a:uFillTx/>
                <a:latin typeface="Arial"/>
              </a:rPr>
              <a:t>Os </a:t>
            </a:r>
            <a:r>
              <a:rPr lang="pt-BR" sz="2300" b="0" u="none" spc="91" strike="noStrike">
                <a:solidFill>
                  <a:schemeClr val="dk1"/>
                </a:solidFill>
                <a:effectLst/>
                <a:uFillTx/>
                <a:latin typeface="Arial"/>
              </a:rPr>
              <a:t>resistores </a:t>
            </a:r>
            <a:r>
              <a:rPr lang="pt-BR" sz="2400" b="0" i="1" u="none" spc="139" strike="noStrike">
                <a:solidFill>
                  <a:srgbClr val="FF0000"/>
                </a:solidFill>
                <a:effectLst/>
                <a:uFillTx/>
                <a:latin typeface="Arial"/>
              </a:rPr>
              <a:t>pull-down 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 </a:t>
            </a:r>
            <a:r>
              <a:rPr lang="pt-BR" sz="2400" b="0" i="1" u="none" spc="164" strike="noStrike">
                <a:solidFill>
                  <a:srgbClr val="FF0000"/>
                </a:solidFill>
                <a:effectLst/>
                <a:uFillTx/>
                <a:latin typeface="Arial"/>
              </a:rPr>
              <a:t>pull-up </a:t>
            </a:r>
            <a:r>
              <a:rPr lang="pt-BR" sz="2300" b="0" u="none" spc="111" strike="noStrike">
                <a:solidFill>
                  <a:srgbClr val="FF0000"/>
                </a:solidFill>
                <a:effectLst/>
                <a:uFillTx/>
                <a:latin typeface="Arial"/>
              </a:rPr>
              <a:t>garantem  </a:t>
            </a:r>
            <a:r>
              <a:rPr lang="pt-BR" sz="2300" b="0" u="none" spc="105" strike="noStrike">
                <a:solidFill>
                  <a:srgbClr val="FF0000"/>
                </a:solidFill>
                <a:effectLst/>
                <a:uFillTx/>
                <a:latin typeface="Arial"/>
              </a:rPr>
              <a:t>que </a:t>
            </a:r>
            <a:r>
              <a:rPr lang="pt-BR" sz="2300" b="0" u="none" spc="79" strike="noStrike">
                <a:solidFill>
                  <a:srgbClr val="FF0000"/>
                </a:solidFill>
                <a:effectLst/>
                <a:uFillTx/>
                <a:latin typeface="Arial"/>
              </a:rPr>
              <a:t>os </a:t>
            </a:r>
            <a:r>
              <a:rPr lang="pt-BR" sz="2300" b="0" u="none" spc="54" strike="noStrike">
                <a:solidFill>
                  <a:srgbClr val="FF0000"/>
                </a:solidFill>
                <a:effectLst/>
                <a:uFillTx/>
                <a:latin typeface="Arial"/>
              </a:rPr>
              <a:t>níveis </a:t>
            </a:r>
            <a:r>
              <a:rPr lang="pt-BR" sz="2300" b="0" u="none" spc="105" strike="noStrike">
                <a:solidFill>
                  <a:srgbClr val="FF0000"/>
                </a:solidFill>
                <a:effectLst/>
                <a:uFillTx/>
                <a:latin typeface="Arial"/>
              </a:rPr>
              <a:t>lógicos </a:t>
            </a:r>
            <a:r>
              <a:rPr lang="pt-BR" sz="2300" b="0" u="none" spc="74" strike="noStrike">
                <a:solidFill>
                  <a:srgbClr val="FF0000"/>
                </a:solidFill>
                <a:effectLst/>
                <a:uFillTx/>
                <a:latin typeface="Arial"/>
              </a:rPr>
              <a:t>estarão </a:t>
            </a:r>
            <a:r>
              <a:rPr lang="pt-BR" sz="2300" b="0" u="none" spc="156" strike="noStrike">
                <a:solidFill>
                  <a:srgbClr val="FF0000"/>
                </a:solidFill>
                <a:effectLst/>
                <a:uFillTx/>
                <a:latin typeface="Arial"/>
              </a:rPr>
              <a:t>próximos </a:t>
            </a:r>
            <a:r>
              <a:rPr lang="pt-BR" sz="23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às  </a:t>
            </a:r>
            <a:r>
              <a:rPr lang="pt-BR" sz="2300" b="0" u="none" spc="74" strike="noStrike">
                <a:solidFill>
                  <a:srgbClr val="FF0000"/>
                </a:solidFill>
                <a:effectLst/>
                <a:uFillTx/>
                <a:latin typeface="Arial"/>
              </a:rPr>
              <a:t>tensões</a:t>
            </a:r>
            <a:r>
              <a:rPr lang="pt-BR" sz="2300" b="0" u="none" spc="79" strike="noStrike">
                <a:solidFill>
                  <a:srgbClr val="FF0000"/>
                </a:solidFill>
                <a:effectLst/>
                <a:uFillTx/>
                <a:latin typeface="Arial"/>
              </a:rPr>
              <a:t> </a:t>
            </a:r>
            <a:r>
              <a:rPr lang="pt-BR" sz="2300" b="0" u="none" spc="60" strike="noStrike">
                <a:solidFill>
                  <a:srgbClr val="FF0000"/>
                </a:solidFill>
                <a:effectLst/>
                <a:uFillTx/>
                <a:latin typeface="Arial"/>
              </a:rPr>
              <a:t>esperadas</a:t>
            </a:r>
            <a:r>
              <a:rPr lang="pt-BR" sz="2300" b="0" u="none" spc="60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pt-B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object 5"/>
          <p:cNvSpPr/>
          <p:nvPr/>
        </p:nvSpPr>
        <p:spPr>
          <a:xfrm>
            <a:off x="223920" y="501480"/>
            <a:ext cx="7116840" cy="11379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ftr" idx="28"/>
          </p:nvPr>
        </p:nvSpPr>
        <p:spPr>
          <a:xfrm>
            <a:off x="3733920" y="6540120"/>
            <a:ext cx="4575960" cy="187560"/>
          </a:xfrm>
          <a:prstGeom prst="rect">
            <a:avLst/>
          </a:prstGeom>
          <a:noFill/>
          <a:ln w="0">
            <a:noFill/>
          </a:ln>
        </p:spPr>
        <p:txBody>
          <a:bodyPr lIns="0" tIns="2520" rIns="0" bIns="0" anchor="t">
            <a:sp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ETECZL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– Aulas de Fundamentos Informática-Arduino</a:t>
            </a: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-</a:t>
            </a:r>
            <a:r>
              <a:rPr lang="pt-BR" sz="1200" b="1" u="none" spc="-11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@2019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29"/>
          </p:nvPr>
        </p:nvSpPr>
        <p:spPr>
          <a:xfrm>
            <a:off x="8610480" y="6540120"/>
            <a:ext cx="336960" cy="187560"/>
          </a:xfrm>
          <a:prstGeom prst="rect">
            <a:avLst/>
          </a:prstGeom>
          <a:noFill/>
          <a:ln w="0">
            <a:noFill/>
          </a:ln>
        </p:spPr>
        <p:txBody>
          <a:bodyPr lIns="0" tIns="2520" rIns="0" bIns="0" anchor="t">
            <a:spAutoFit/>
          </a:bodyPr>
          <a:lstStyle>
            <a:lvl1pPr marL="2556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2556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fld id="{92D543EF-43CB-4D5C-A247-42C56610D56C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3"/>
          <p:cNvSpPr/>
          <p:nvPr/>
        </p:nvSpPr>
        <p:spPr>
          <a:xfrm>
            <a:off x="1971360" y="2202840"/>
            <a:ext cx="5552640" cy="39621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object 4"/>
          <p:cNvSpPr/>
          <p:nvPr/>
        </p:nvSpPr>
        <p:spPr>
          <a:xfrm>
            <a:off x="3024000" y="3546360"/>
            <a:ext cx="559080" cy="413640"/>
          </a:xfrm>
          <a:custGeom>
            <a:avLst/>
            <a:gdLst>
              <a:gd name="textAreaLeft" fmla="*/ 0 w 559080"/>
              <a:gd name="textAreaRight" fmla="*/ 559440 w 559080"/>
              <a:gd name="textAreaTop" fmla="*/ 0 h 413640"/>
              <a:gd name="textAreaBottom" fmla="*/ 414000 h 413640"/>
            </a:gdLst>
            <a:ahLst/>
            <a:cxnLst/>
            <a:rect l="textAreaLeft" t="textAreaTop" r="textAreaRight" b="textAreaBottom"/>
            <a:pathLst>
              <a:path w="559435" h="414020">
                <a:moveTo>
                  <a:pt x="278511" y="0"/>
                </a:moveTo>
                <a:lnTo>
                  <a:pt x="223646" y="3810"/>
                </a:lnTo>
                <a:lnTo>
                  <a:pt x="172338" y="15239"/>
                </a:lnTo>
                <a:lnTo>
                  <a:pt x="125602" y="34289"/>
                </a:lnTo>
                <a:lnTo>
                  <a:pt x="84327" y="58420"/>
                </a:lnTo>
                <a:lnTo>
                  <a:pt x="49656" y="88900"/>
                </a:lnTo>
                <a:lnTo>
                  <a:pt x="22732" y="124459"/>
                </a:lnTo>
                <a:lnTo>
                  <a:pt x="5968" y="163830"/>
                </a:lnTo>
                <a:lnTo>
                  <a:pt x="0" y="208280"/>
                </a:lnTo>
                <a:lnTo>
                  <a:pt x="380" y="219709"/>
                </a:lnTo>
                <a:lnTo>
                  <a:pt x="9778" y="262889"/>
                </a:lnTo>
                <a:lnTo>
                  <a:pt x="36829" y="311150"/>
                </a:lnTo>
                <a:lnTo>
                  <a:pt x="67944" y="342900"/>
                </a:lnTo>
                <a:lnTo>
                  <a:pt x="106171" y="370839"/>
                </a:lnTo>
                <a:lnTo>
                  <a:pt x="150367" y="391159"/>
                </a:lnTo>
                <a:lnTo>
                  <a:pt x="199516" y="406400"/>
                </a:lnTo>
                <a:lnTo>
                  <a:pt x="252729" y="414019"/>
                </a:lnTo>
                <a:lnTo>
                  <a:pt x="308101" y="414019"/>
                </a:lnTo>
                <a:lnTo>
                  <a:pt x="361314" y="406400"/>
                </a:lnTo>
                <a:lnTo>
                  <a:pt x="386588" y="398780"/>
                </a:lnTo>
                <a:lnTo>
                  <a:pt x="410590" y="391159"/>
                </a:lnTo>
                <a:lnTo>
                  <a:pt x="430482" y="382269"/>
                </a:lnTo>
                <a:lnTo>
                  <a:pt x="279273" y="382269"/>
                </a:lnTo>
                <a:lnTo>
                  <a:pt x="254000" y="381000"/>
                </a:lnTo>
                <a:lnTo>
                  <a:pt x="182752" y="368300"/>
                </a:lnTo>
                <a:lnTo>
                  <a:pt x="140842" y="351789"/>
                </a:lnTo>
                <a:lnTo>
                  <a:pt x="104266" y="330200"/>
                </a:lnTo>
                <a:lnTo>
                  <a:pt x="74294" y="303530"/>
                </a:lnTo>
                <a:lnTo>
                  <a:pt x="43687" y="257809"/>
                </a:lnTo>
                <a:lnTo>
                  <a:pt x="37845" y="241300"/>
                </a:lnTo>
                <a:lnTo>
                  <a:pt x="35559" y="233680"/>
                </a:lnTo>
                <a:lnTo>
                  <a:pt x="34162" y="224789"/>
                </a:lnTo>
                <a:lnTo>
                  <a:pt x="33146" y="215900"/>
                </a:lnTo>
                <a:lnTo>
                  <a:pt x="32929" y="208280"/>
                </a:lnTo>
                <a:lnTo>
                  <a:pt x="32947" y="205739"/>
                </a:lnTo>
                <a:lnTo>
                  <a:pt x="40639" y="163830"/>
                </a:lnTo>
                <a:lnTo>
                  <a:pt x="62356" y="124459"/>
                </a:lnTo>
                <a:lnTo>
                  <a:pt x="88772" y="96519"/>
                </a:lnTo>
                <a:lnTo>
                  <a:pt x="122173" y="72389"/>
                </a:lnTo>
                <a:lnTo>
                  <a:pt x="161544" y="53339"/>
                </a:lnTo>
                <a:lnTo>
                  <a:pt x="205866" y="40639"/>
                </a:lnTo>
                <a:lnTo>
                  <a:pt x="254253" y="33020"/>
                </a:lnTo>
                <a:lnTo>
                  <a:pt x="431291" y="33020"/>
                </a:lnTo>
                <a:lnTo>
                  <a:pt x="408431" y="22860"/>
                </a:lnTo>
                <a:lnTo>
                  <a:pt x="384555" y="15239"/>
                </a:lnTo>
                <a:lnTo>
                  <a:pt x="359410" y="8889"/>
                </a:lnTo>
                <a:lnTo>
                  <a:pt x="333120" y="3810"/>
                </a:lnTo>
                <a:lnTo>
                  <a:pt x="306197" y="1270"/>
                </a:lnTo>
                <a:lnTo>
                  <a:pt x="278511" y="0"/>
                </a:lnTo>
                <a:close/>
              </a:path>
              <a:path w="559435" h="414020">
                <a:moveTo>
                  <a:pt x="431291" y="33020"/>
                </a:moveTo>
                <a:lnTo>
                  <a:pt x="279653" y="33020"/>
                </a:lnTo>
                <a:lnTo>
                  <a:pt x="304926" y="34289"/>
                </a:lnTo>
                <a:lnTo>
                  <a:pt x="329691" y="36829"/>
                </a:lnTo>
                <a:lnTo>
                  <a:pt x="376174" y="46989"/>
                </a:lnTo>
                <a:lnTo>
                  <a:pt x="418083" y="63500"/>
                </a:lnTo>
                <a:lnTo>
                  <a:pt x="454660" y="85089"/>
                </a:lnTo>
                <a:lnTo>
                  <a:pt x="484631" y="110489"/>
                </a:lnTo>
                <a:lnTo>
                  <a:pt x="515238" y="156209"/>
                </a:lnTo>
                <a:lnTo>
                  <a:pt x="525779" y="198119"/>
                </a:lnTo>
                <a:lnTo>
                  <a:pt x="525979" y="208280"/>
                </a:lnTo>
                <a:lnTo>
                  <a:pt x="525652" y="215900"/>
                </a:lnTo>
                <a:lnTo>
                  <a:pt x="524637" y="224789"/>
                </a:lnTo>
                <a:lnTo>
                  <a:pt x="523239" y="233680"/>
                </a:lnTo>
                <a:lnTo>
                  <a:pt x="521080" y="242569"/>
                </a:lnTo>
                <a:lnTo>
                  <a:pt x="518287" y="250189"/>
                </a:lnTo>
                <a:lnTo>
                  <a:pt x="515112" y="259080"/>
                </a:lnTo>
                <a:lnTo>
                  <a:pt x="484250" y="304800"/>
                </a:lnTo>
                <a:lnTo>
                  <a:pt x="454278" y="330200"/>
                </a:lnTo>
                <a:lnTo>
                  <a:pt x="417702" y="351789"/>
                </a:lnTo>
                <a:lnTo>
                  <a:pt x="375792" y="368300"/>
                </a:lnTo>
                <a:lnTo>
                  <a:pt x="329183" y="378459"/>
                </a:lnTo>
                <a:lnTo>
                  <a:pt x="279273" y="382269"/>
                </a:lnTo>
                <a:lnTo>
                  <a:pt x="430482" y="382269"/>
                </a:lnTo>
                <a:lnTo>
                  <a:pt x="474725" y="355600"/>
                </a:lnTo>
                <a:lnTo>
                  <a:pt x="509397" y="325119"/>
                </a:lnTo>
                <a:lnTo>
                  <a:pt x="536193" y="289559"/>
                </a:lnTo>
                <a:lnTo>
                  <a:pt x="552957" y="250189"/>
                </a:lnTo>
                <a:lnTo>
                  <a:pt x="558926" y="205739"/>
                </a:lnTo>
                <a:lnTo>
                  <a:pt x="558545" y="194309"/>
                </a:lnTo>
                <a:lnTo>
                  <a:pt x="549148" y="152400"/>
                </a:lnTo>
                <a:lnTo>
                  <a:pt x="521969" y="102869"/>
                </a:lnTo>
                <a:lnTo>
                  <a:pt x="490981" y="71119"/>
                </a:lnTo>
                <a:lnTo>
                  <a:pt x="452754" y="44450"/>
                </a:lnTo>
                <a:lnTo>
                  <a:pt x="431291" y="33020"/>
                </a:lnTo>
                <a:close/>
              </a:path>
              <a:path w="559435" h="414020">
                <a:moveTo>
                  <a:pt x="280035" y="43179"/>
                </a:moveTo>
                <a:lnTo>
                  <a:pt x="231648" y="46989"/>
                </a:lnTo>
                <a:lnTo>
                  <a:pt x="186816" y="57150"/>
                </a:lnTo>
                <a:lnTo>
                  <a:pt x="146303" y="72389"/>
                </a:lnTo>
                <a:lnTo>
                  <a:pt x="111378" y="92709"/>
                </a:lnTo>
                <a:lnTo>
                  <a:pt x="71500" y="130809"/>
                </a:lnTo>
                <a:lnTo>
                  <a:pt x="51053" y="167639"/>
                </a:lnTo>
                <a:lnTo>
                  <a:pt x="43978" y="205739"/>
                </a:lnTo>
                <a:lnTo>
                  <a:pt x="43963" y="208280"/>
                </a:lnTo>
                <a:lnTo>
                  <a:pt x="44068" y="214630"/>
                </a:lnTo>
                <a:lnTo>
                  <a:pt x="53466" y="252730"/>
                </a:lnTo>
                <a:lnTo>
                  <a:pt x="81914" y="295909"/>
                </a:lnTo>
                <a:lnTo>
                  <a:pt x="126872" y="331469"/>
                </a:lnTo>
                <a:lnTo>
                  <a:pt x="164719" y="350519"/>
                </a:lnTo>
                <a:lnTo>
                  <a:pt x="207517" y="363219"/>
                </a:lnTo>
                <a:lnTo>
                  <a:pt x="254380" y="369569"/>
                </a:lnTo>
                <a:lnTo>
                  <a:pt x="278891" y="370839"/>
                </a:lnTo>
                <a:lnTo>
                  <a:pt x="303402" y="369569"/>
                </a:lnTo>
                <a:lnTo>
                  <a:pt x="327278" y="367030"/>
                </a:lnTo>
                <a:lnTo>
                  <a:pt x="350265" y="363219"/>
                </a:lnTo>
                <a:lnTo>
                  <a:pt x="363372" y="359409"/>
                </a:lnTo>
                <a:lnTo>
                  <a:pt x="278383" y="359409"/>
                </a:lnTo>
                <a:lnTo>
                  <a:pt x="231648" y="356869"/>
                </a:lnTo>
                <a:lnTo>
                  <a:pt x="188213" y="346709"/>
                </a:lnTo>
                <a:lnTo>
                  <a:pt x="149605" y="331469"/>
                </a:lnTo>
                <a:lnTo>
                  <a:pt x="116077" y="311150"/>
                </a:lnTo>
                <a:lnTo>
                  <a:pt x="78739" y="275589"/>
                </a:lnTo>
                <a:lnTo>
                  <a:pt x="58800" y="234950"/>
                </a:lnTo>
                <a:lnTo>
                  <a:pt x="54863" y="205739"/>
                </a:lnTo>
                <a:lnTo>
                  <a:pt x="55244" y="198119"/>
                </a:lnTo>
                <a:lnTo>
                  <a:pt x="71754" y="149859"/>
                </a:lnTo>
                <a:lnTo>
                  <a:pt x="104012" y="113030"/>
                </a:lnTo>
                <a:lnTo>
                  <a:pt x="151510" y="82550"/>
                </a:lnTo>
                <a:lnTo>
                  <a:pt x="190372" y="67309"/>
                </a:lnTo>
                <a:lnTo>
                  <a:pt x="233679" y="58420"/>
                </a:lnTo>
                <a:lnTo>
                  <a:pt x="280415" y="54610"/>
                </a:lnTo>
                <a:lnTo>
                  <a:pt x="362394" y="54610"/>
                </a:lnTo>
                <a:lnTo>
                  <a:pt x="351408" y="52070"/>
                </a:lnTo>
                <a:lnTo>
                  <a:pt x="328422" y="46989"/>
                </a:lnTo>
                <a:lnTo>
                  <a:pt x="304545" y="44450"/>
                </a:lnTo>
                <a:lnTo>
                  <a:pt x="280035" y="43179"/>
                </a:lnTo>
                <a:close/>
              </a:path>
              <a:path w="559435" h="414020">
                <a:moveTo>
                  <a:pt x="362394" y="54610"/>
                </a:moveTo>
                <a:lnTo>
                  <a:pt x="280415" y="54610"/>
                </a:lnTo>
                <a:lnTo>
                  <a:pt x="304164" y="55879"/>
                </a:lnTo>
                <a:lnTo>
                  <a:pt x="327278" y="58420"/>
                </a:lnTo>
                <a:lnTo>
                  <a:pt x="370586" y="68580"/>
                </a:lnTo>
                <a:lnTo>
                  <a:pt x="409320" y="83819"/>
                </a:lnTo>
                <a:lnTo>
                  <a:pt x="442722" y="102869"/>
                </a:lnTo>
                <a:lnTo>
                  <a:pt x="480187" y="139700"/>
                </a:lnTo>
                <a:lnTo>
                  <a:pt x="500125" y="179069"/>
                </a:lnTo>
                <a:lnTo>
                  <a:pt x="504063" y="208280"/>
                </a:lnTo>
                <a:lnTo>
                  <a:pt x="503681" y="215900"/>
                </a:lnTo>
                <a:lnTo>
                  <a:pt x="487172" y="265430"/>
                </a:lnTo>
                <a:lnTo>
                  <a:pt x="455040" y="302259"/>
                </a:lnTo>
                <a:lnTo>
                  <a:pt x="407415" y="332739"/>
                </a:lnTo>
                <a:lnTo>
                  <a:pt x="368553" y="346709"/>
                </a:lnTo>
                <a:lnTo>
                  <a:pt x="325247" y="356869"/>
                </a:lnTo>
                <a:lnTo>
                  <a:pt x="302260" y="359409"/>
                </a:lnTo>
                <a:lnTo>
                  <a:pt x="363372" y="359409"/>
                </a:lnTo>
                <a:lnTo>
                  <a:pt x="412623" y="341630"/>
                </a:lnTo>
                <a:lnTo>
                  <a:pt x="447420" y="321309"/>
                </a:lnTo>
                <a:lnTo>
                  <a:pt x="487425" y="284480"/>
                </a:lnTo>
                <a:lnTo>
                  <a:pt x="507873" y="247650"/>
                </a:lnTo>
                <a:lnTo>
                  <a:pt x="514985" y="208280"/>
                </a:lnTo>
                <a:lnTo>
                  <a:pt x="514857" y="199389"/>
                </a:lnTo>
                <a:lnTo>
                  <a:pt x="505460" y="161289"/>
                </a:lnTo>
                <a:lnTo>
                  <a:pt x="477012" y="118109"/>
                </a:lnTo>
                <a:lnTo>
                  <a:pt x="432053" y="82550"/>
                </a:lnTo>
                <a:lnTo>
                  <a:pt x="394207" y="64769"/>
                </a:lnTo>
                <a:lnTo>
                  <a:pt x="373379" y="57150"/>
                </a:lnTo>
                <a:lnTo>
                  <a:pt x="362394" y="54610"/>
                </a:lnTo>
                <a:close/>
              </a:path>
            </a:pathLst>
          </a:custGeom>
          <a:solidFill>
            <a:srgbClr val="DA1F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object 5"/>
          <p:cNvSpPr/>
          <p:nvPr/>
        </p:nvSpPr>
        <p:spPr>
          <a:xfrm>
            <a:off x="617040" y="2688480"/>
            <a:ext cx="1412280" cy="9810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object 6"/>
          <p:cNvSpPr/>
          <p:nvPr/>
        </p:nvSpPr>
        <p:spPr>
          <a:xfrm>
            <a:off x="635400" y="2698920"/>
            <a:ext cx="1436760" cy="10206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object 7"/>
          <p:cNvSpPr/>
          <p:nvPr/>
        </p:nvSpPr>
        <p:spPr>
          <a:xfrm>
            <a:off x="675000" y="2709000"/>
            <a:ext cx="1295640" cy="8636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object 8"/>
          <p:cNvSpPr/>
          <p:nvPr/>
        </p:nvSpPr>
        <p:spPr>
          <a:xfrm>
            <a:off x="675000" y="2709000"/>
            <a:ext cx="1296360" cy="864000"/>
          </a:xfrm>
          <a:prstGeom prst="rect">
            <a:avLst/>
          </a:prstGeom>
          <a:noFill/>
          <a:ln w="9525">
            <a:solidFill>
              <a:srgbClr val="EB63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37440" rIns="0" bIns="0" anchor="t">
            <a:spAutoFit/>
          </a:bodyPr>
          <a:p>
            <a:pPr marL="135720" indent="1800" algn="ctr" defTabSz="914400">
              <a:lnSpc>
                <a:spcPct val="100000"/>
              </a:lnSpc>
              <a:spcBef>
                <a:spcPts val="295"/>
              </a:spcBef>
              <a:tabLst>
                <a:tab pos="0" algn="l"/>
              </a:tabLst>
            </a:pPr>
            <a:r>
              <a:rPr lang="pt-BR" sz="1600" b="0" u="none" spc="34" strike="noStrike">
                <a:solidFill>
                  <a:schemeClr val="dk1"/>
                </a:solidFill>
                <a:effectLst/>
                <a:uFillTx/>
                <a:latin typeface="Arial"/>
              </a:rPr>
              <a:t>Resistor  </a:t>
            </a:r>
            <a:r>
              <a:rPr lang="pt-BR" sz="1600" b="0" u="none" spc="99" strike="noStrik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lang="pt-BR" sz="1600" b="0" u="none" spc="111" strike="noStrike">
                <a:solidFill>
                  <a:schemeClr val="dk1"/>
                </a:solidFill>
                <a:effectLst/>
                <a:uFillTx/>
                <a:latin typeface="Arial"/>
              </a:rPr>
              <a:t>u</a:t>
            </a:r>
            <a:r>
              <a:rPr lang="pt-BR" sz="1600" b="0" u="none" spc="99" strike="noStrike">
                <a:solidFill>
                  <a:schemeClr val="dk1"/>
                </a:solidFill>
                <a:effectLst/>
                <a:uFillTx/>
                <a:latin typeface="Arial"/>
              </a:rPr>
              <a:t>ll</a:t>
            </a:r>
            <a:r>
              <a:rPr lang="pt-BR" sz="1600" b="0" u="none" spc="391" strike="noStrike">
                <a:solidFill>
                  <a:schemeClr val="dk1"/>
                </a:solidFill>
                <a:effectLst/>
                <a:uFillTx/>
                <a:latin typeface="Arial"/>
              </a:rPr>
              <a:t>-</a:t>
            </a:r>
            <a:r>
              <a:rPr lang="pt-BR" sz="1600" b="0" u="none" spc="96" strike="noStrike">
                <a:solidFill>
                  <a:schemeClr val="dk1"/>
                </a:solidFill>
                <a:effectLst/>
                <a:uFillTx/>
                <a:latin typeface="Arial"/>
              </a:rPr>
              <a:t>d</a:t>
            </a:r>
            <a:r>
              <a:rPr lang="pt-BR" sz="1600" b="0" u="none" spc="105" strike="noStrike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pt-BR" sz="1600" b="0" u="none" spc="60" strike="noStrike">
                <a:solidFill>
                  <a:schemeClr val="dk1"/>
                </a:solidFill>
                <a:effectLst/>
                <a:uFillTx/>
                <a:latin typeface="Arial"/>
              </a:rPr>
              <a:t>w</a:t>
            </a:r>
            <a:r>
              <a:rPr lang="pt-BR" sz="1600" b="0" u="none" spc="65" strike="noStrike">
                <a:solidFill>
                  <a:schemeClr val="dk1"/>
                </a:solidFill>
                <a:effectLst/>
                <a:uFillTx/>
                <a:latin typeface="Arial"/>
              </a:rPr>
              <a:t>n  </a:t>
            </a:r>
            <a:r>
              <a:rPr lang="pt-BR" sz="1600" b="0" u="none" spc="113" strike="noStrike">
                <a:solidFill>
                  <a:srgbClr val="FF0000"/>
                </a:solidFill>
                <a:effectLst/>
                <a:uFillTx/>
                <a:latin typeface="Arial"/>
              </a:rPr>
              <a:t>10k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object 9"/>
          <p:cNvSpPr/>
          <p:nvPr/>
        </p:nvSpPr>
        <p:spPr>
          <a:xfrm>
            <a:off x="1322640" y="3566520"/>
            <a:ext cx="1728720" cy="228240"/>
          </a:xfrm>
          <a:custGeom>
            <a:avLst/>
            <a:gdLst>
              <a:gd name="textAreaLeft" fmla="*/ 0 w 1728720"/>
              <a:gd name="textAreaRight" fmla="*/ 1729080 w 1728720"/>
              <a:gd name="textAreaTop" fmla="*/ 0 h 228240"/>
              <a:gd name="textAreaBottom" fmla="*/ 228600 h 228240"/>
            </a:gdLst>
            <a:ahLst/>
            <a:cxnLst/>
            <a:rect l="textAreaLeft" t="textAreaTop" r="textAreaRight" b="textAreaBottom"/>
            <a:pathLst>
              <a:path w="1729105" h="228600">
                <a:moveTo>
                  <a:pt x="1692366" y="188964"/>
                </a:moveTo>
                <a:lnTo>
                  <a:pt x="1633220" y="215646"/>
                </a:lnTo>
                <a:lnTo>
                  <a:pt x="1630045" y="217043"/>
                </a:lnTo>
                <a:lnTo>
                  <a:pt x="1628648" y="220853"/>
                </a:lnTo>
                <a:lnTo>
                  <a:pt x="1630045" y="224028"/>
                </a:lnTo>
                <a:lnTo>
                  <a:pt x="1631569" y="227203"/>
                </a:lnTo>
                <a:lnTo>
                  <a:pt x="1635252" y="228600"/>
                </a:lnTo>
                <a:lnTo>
                  <a:pt x="1638554" y="227203"/>
                </a:lnTo>
                <a:lnTo>
                  <a:pt x="1717633" y="191389"/>
                </a:lnTo>
                <a:lnTo>
                  <a:pt x="1715643" y="191389"/>
                </a:lnTo>
                <a:lnTo>
                  <a:pt x="1692366" y="188964"/>
                </a:lnTo>
                <a:close/>
              </a:path>
              <a:path w="1729105" h="228600">
                <a:moveTo>
                  <a:pt x="1703802" y="183806"/>
                </a:moveTo>
                <a:lnTo>
                  <a:pt x="1692366" y="188964"/>
                </a:lnTo>
                <a:lnTo>
                  <a:pt x="1715643" y="191389"/>
                </a:lnTo>
                <a:lnTo>
                  <a:pt x="1715757" y="190246"/>
                </a:lnTo>
                <a:lnTo>
                  <a:pt x="1712595" y="190246"/>
                </a:lnTo>
                <a:lnTo>
                  <a:pt x="1703802" y="183806"/>
                </a:lnTo>
                <a:close/>
              </a:path>
              <a:path w="1729105" h="228600">
                <a:moveTo>
                  <a:pt x="1646047" y="125730"/>
                </a:moveTo>
                <a:lnTo>
                  <a:pt x="1642110" y="126365"/>
                </a:lnTo>
                <a:lnTo>
                  <a:pt x="1639951" y="129159"/>
                </a:lnTo>
                <a:lnTo>
                  <a:pt x="1637919" y="132080"/>
                </a:lnTo>
                <a:lnTo>
                  <a:pt x="1638554" y="136017"/>
                </a:lnTo>
                <a:lnTo>
                  <a:pt x="1693484" y="176248"/>
                </a:lnTo>
                <a:lnTo>
                  <a:pt x="1716913" y="178689"/>
                </a:lnTo>
                <a:lnTo>
                  <a:pt x="1715643" y="191389"/>
                </a:lnTo>
                <a:lnTo>
                  <a:pt x="1717633" y="191389"/>
                </a:lnTo>
                <a:lnTo>
                  <a:pt x="1728851" y="186309"/>
                </a:lnTo>
                <a:lnTo>
                  <a:pt x="1648841" y="127889"/>
                </a:lnTo>
                <a:lnTo>
                  <a:pt x="1646047" y="125730"/>
                </a:lnTo>
                <a:close/>
              </a:path>
              <a:path w="1729105" h="228600">
                <a:moveTo>
                  <a:pt x="1713738" y="179324"/>
                </a:moveTo>
                <a:lnTo>
                  <a:pt x="1703802" y="183806"/>
                </a:lnTo>
                <a:lnTo>
                  <a:pt x="1712595" y="190246"/>
                </a:lnTo>
                <a:lnTo>
                  <a:pt x="1713738" y="179324"/>
                </a:lnTo>
                <a:close/>
              </a:path>
              <a:path w="1729105" h="228600">
                <a:moveTo>
                  <a:pt x="1716849" y="179324"/>
                </a:moveTo>
                <a:lnTo>
                  <a:pt x="1713738" y="179324"/>
                </a:lnTo>
                <a:lnTo>
                  <a:pt x="1712595" y="190246"/>
                </a:lnTo>
                <a:lnTo>
                  <a:pt x="1715757" y="190246"/>
                </a:lnTo>
                <a:lnTo>
                  <a:pt x="1716849" y="179324"/>
                </a:lnTo>
                <a:close/>
              </a:path>
              <a:path w="1729105" h="228600">
                <a:moveTo>
                  <a:pt x="1270" y="0"/>
                </a:moveTo>
                <a:lnTo>
                  <a:pt x="0" y="12700"/>
                </a:lnTo>
                <a:lnTo>
                  <a:pt x="1692366" y="188964"/>
                </a:lnTo>
                <a:lnTo>
                  <a:pt x="1703802" y="183806"/>
                </a:lnTo>
                <a:lnTo>
                  <a:pt x="1693484" y="176248"/>
                </a:lnTo>
                <a:lnTo>
                  <a:pt x="1270" y="0"/>
                </a:lnTo>
                <a:close/>
              </a:path>
              <a:path w="1729105" h="228600">
                <a:moveTo>
                  <a:pt x="1693484" y="176248"/>
                </a:moveTo>
                <a:lnTo>
                  <a:pt x="1703802" y="183806"/>
                </a:lnTo>
                <a:lnTo>
                  <a:pt x="1713738" y="179324"/>
                </a:lnTo>
                <a:lnTo>
                  <a:pt x="1716849" y="179324"/>
                </a:lnTo>
                <a:lnTo>
                  <a:pt x="1716913" y="178689"/>
                </a:lnTo>
                <a:lnTo>
                  <a:pt x="1693484" y="17624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45840" y="1454040"/>
            <a:ext cx="6275520" cy="41184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0"/>
              </a:spcBef>
              <a:buNone/>
              <a:tabLst>
                <a:tab pos="268560" algn="l"/>
              </a:tabLst>
            </a:pPr>
            <a:r>
              <a:rPr lang="pt-BR" sz="1600" b="0" u="none" spc="-451" strike="noStrike">
                <a:solidFill>
                  <a:srgbClr val="2CA1BE"/>
                </a:solidFill>
                <a:effectLst/>
                <a:uFillTx/>
                <a:latin typeface="Arial"/>
              </a:rPr>
              <a:t></a:t>
            </a:r>
            <a:r>
              <a:rPr lang="pt-BR" sz="1600" b="0" u="none" spc="-451" strike="noStrike">
                <a:solidFill>
                  <a:srgbClr val="2CA1BE"/>
                </a:solidFill>
                <a:effectLst/>
                <a:uFillTx/>
                <a:latin typeface="Arial"/>
              </a:rPr>
              <a:t>	</a:t>
            </a:r>
            <a:r>
              <a:rPr lang="pt-BR" sz="2400" b="0" u="none" spc="74" strike="noStrike">
                <a:solidFill>
                  <a:srgbClr val="000000"/>
                </a:solidFill>
                <a:effectLst/>
                <a:uFillTx/>
                <a:latin typeface="Arial"/>
              </a:rPr>
              <a:t>Lendo </a:t>
            </a:r>
            <a:r>
              <a:rPr lang="pt-BR" sz="2400" b="0" u="none" spc="196" strike="noStrike">
                <a:solidFill>
                  <a:srgbClr val="000000"/>
                </a:solidFill>
                <a:effectLst/>
                <a:uFillTx/>
                <a:latin typeface="Arial"/>
              </a:rPr>
              <a:t>um </a:t>
            </a:r>
            <a:r>
              <a:rPr lang="pt-BR" sz="2400" b="0" u="none" spc="130" strike="noStrike">
                <a:solidFill>
                  <a:srgbClr val="000000"/>
                </a:solidFill>
                <a:effectLst/>
                <a:uFillTx/>
                <a:latin typeface="Arial"/>
              </a:rPr>
              <a:t>botão com </a:t>
            </a:r>
            <a:r>
              <a:rPr lang="pt-BR" sz="2400" b="0" u="none" spc="111" strike="noStrike">
                <a:solidFill>
                  <a:srgbClr val="000000"/>
                </a:solidFill>
                <a:effectLst/>
                <a:uFillTx/>
                <a:latin typeface="Arial"/>
              </a:rPr>
              <a:t>resistor</a:t>
            </a:r>
            <a:r>
              <a:rPr lang="pt-BR" sz="2400" b="0" u="none" spc="-45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pt-BR" sz="2500" b="0" i="1" u="none" spc="150" strike="noStrike">
                <a:solidFill>
                  <a:srgbClr val="FF0000"/>
                </a:solidFill>
                <a:effectLst/>
                <a:uFillTx/>
                <a:latin typeface="Arial"/>
              </a:rPr>
              <a:t>pull-down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object 11"/>
          <p:cNvSpPr/>
          <p:nvPr/>
        </p:nvSpPr>
        <p:spPr>
          <a:xfrm>
            <a:off x="929520" y="1881720"/>
            <a:ext cx="303696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41200" indent="-228600" defTabSz="91440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Font typeface="Verdana"/>
              <a:buChar char="◦"/>
              <a:tabLst>
                <a:tab pos="240840" algn="l"/>
                <a:tab pos="241200" algn="l"/>
              </a:tabLst>
            </a:pPr>
            <a:r>
              <a:rPr lang="pt-BR" sz="2000" b="0" u="none" spc="45" strike="noStrike">
                <a:solidFill>
                  <a:schemeClr val="dk1"/>
                </a:solidFill>
                <a:effectLst/>
                <a:uFillTx/>
                <a:latin typeface="Arial"/>
              </a:rPr>
              <a:t>Ligação </a:t>
            </a:r>
            <a:r>
              <a:rPr lang="pt-BR" sz="2000" b="0" u="none" spc="60" strike="noStrike">
                <a:solidFill>
                  <a:schemeClr val="dk1"/>
                </a:solidFill>
                <a:effectLst/>
                <a:uFillTx/>
                <a:latin typeface="Arial"/>
              </a:rPr>
              <a:t>na</a:t>
            </a: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pt-BR" sz="2000" b="0" u="none" spc="125" strike="noStrike">
                <a:solidFill>
                  <a:schemeClr val="dk1"/>
                </a:solidFill>
                <a:effectLst/>
                <a:uFillTx/>
                <a:latin typeface="Arial"/>
              </a:rPr>
              <a:t>protoboard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object 12"/>
          <p:cNvSpPr/>
          <p:nvPr/>
        </p:nvSpPr>
        <p:spPr>
          <a:xfrm>
            <a:off x="223920" y="501480"/>
            <a:ext cx="7116840" cy="113796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ftr" idx="30"/>
          </p:nvPr>
        </p:nvSpPr>
        <p:spPr>
          <a:xfrm>
            <a:off x="3733920" y="6540120"/>
            <a:ext cx="4575960" cy="187560"/>
          </a:xfrm>
          <a:prstGeom prst="rect">
            <a:avLst/>
          </a:prstGeom>
          <a:noFill/>
          <a:ln w="0">
            <a:noFill/>
          </a:ln>
        </p:spPr>
        <p:txBody>
          <a:bodyPr lIns="0" tIns="2520" rIns="0" bIns="0" anchor="t">
            <a:sp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ETECZL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– Aulas de Fundamentos Informática-Arduino</a:t>
            </a: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-</a:t>
            </a:r>
            <a:r>
              <a:rPr lang="pt-BR" sz="1200" b="1" u="none" spc="-11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@2019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1"/>
          </p:nvPr>
        </p:nvSpPr>
        <p:spPr>
          <a:xfrm>
            <a:off x="8610480" y="6540120"/>
            <a:ext cx="336960" cy="187560"/>
          </a:xfrm>
          <a:prstGeom prst="rect">
            <a:avLst/>
          </a:prstGeom>
          <a:noFill/>
          <a:ln w="0">
            <a:noFill/>
          </a:ln>
        </p:spPr>
        <p:txBody>
          <a:bodyPr lIns="0" tIns="2520" rIns="0" bIns="0" anchor="t">
            <a:spAutoFit/>
          </a:bodyPr>
          <a:lstStyle>
            <a:lvl1pPr marL="2556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2556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fld id="{5194598D-1083-414E-BC31-AF7A12E94422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45840" y="1454040"/>
            <a:ext cx="6275520" cy="41184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0"/>
              </a:spcBef>
              <a:buNone/>
              <a:tabLst>
                <a:tab pos="268560" algn="l"/>
              </a:tabLst>
            </a:pPr>
            <a:r>
              <a:rPr lang="pt-BR" sz="1600" b="0" u="none" spc="-451" strike="noStrike">
                <a:solidFill>
                  <a:srgbClr val="2CA1BE"/>
                </a:solidFill>
                <a:effectLst/>
                <a:uFillTx/>
                <a:latin typeface="Arial"/>
              </a:rPr>
              <a:t></a:t>
            </a:r>
            <a:r>
              <a:rPr lang="pt-BR" sz="1600" b="0" u="none" spc="-451" strike="noStrike">
                <a:solidFill>
                  <a:srgbClr val="2CA1BE"/>
                </a:solidFill>
                <a:effectLst/>
                <a:uFillTx/>
                <a:latin typeface="Arial"/>
              </a:rPr>
              <a:t>	</a:t>
            </a:r>
            <a:r>
              <a:rPr lang="pt-BR" sz="2400" b="0" u="none" spc="74" strike="noStrike">
                <a:solidFill>
                  <a:srgbClr val="000000"/>
                </a:solidFill>
                <a:effectLst/>
                <a:uFillTx/>
                <a:latin typeface="Arial"/>
              </a:rPr>
              <a:t>Lendo </a:t>
            </a:r>
            <a:r>
              <a:rPr lang="pt-BR" sz="2400" b="0" u="none" spc="196" strike="noStrike">
                <a:solidFill>
                  <a:srgbClr val="000000"/>
                </a:solidFill>
                <a:effectLst/>
                <a:uFillTx/>
                <a:latin typeface="Arial"/>
              </a:rPr>
              <a:t>um </a:t>
            </a:r>
            <a:r>
              <a:rPr lang="pt-BR" sz="2400" b="0" u="none" spc="130" strike="noStrike">
                <a:solidFill>
                  <a:srgbClr val="000000"/>
                </a:solidFill>
                <a:effectLst/>
                <a:uFillTx/>
                <a:latin typeface="Arial"/>
              </a:rPr>
              <a:t>botão com </a:t>
            </a:r>
            <a:r>
              <a:rPr lang="pt-BR" sz="2400" b="0" u="none" spc="111" strike="noStrike">
                <a:solidFill>
                  <a:srgbClr val="000000"/>
                </a:solidFill>
                <a:effectLst/>
                <a:uFillTx/>
                <a:latin typeface="Arial"/>
              </a:rPr>
              <a:t>resistor</a:t>
            </a:r>
            <a:r>
              <a:rPr lang="pt-BR" sz="2400" b="0" u="none" spc="-45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pt-BR" sz="2500" b="0" i="1" u="none" spc="150" strike="noStrike">
                <a:solidFill>
                  <a:srgbClr val="FF0000"/>
                </a:solidFill>
                <a:effectLst/>
                <a:uFillTx/>
                <a:latin typeface="Arial"/>
              </a:rPr>
              <a:t>pull-down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object 4"/>
          <p:cNvSpPr/>
          <p:nvPr/>
        </p:nvSpPr>
        <p:spPr>
          <a:xfrm>
            <a:off x="929520" y="1881720"/>
            <a:ext cx="14353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41200" indent="-228600" defTabSz="91440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Font typeface="Verdana"/>
              <a:buChar char="◦"/>
              <a:tabLst>
                <a:tab pos="240840" algn="l"/>
                <a:tab pos="241200" algn="l"/>
              </a:tabLst>
            </a:pPr>
            <a:r>
              <a:rPr lang="pt-BR" sz="2000" b="0" u="none" spc="-51" strike="noStrik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lang="pt-BR" sz="2000" b="0" u="none" spc="-34" strike="noStrike">
                <a:solidFill>
                  <a:schemeClr val="dk1"/>
                </a:solidFill>
                <a:effectLst/>
                <a:uFillTx/>
                <a:latin typeface="Arial"/>
              </a:rPr>
              <a:t>r</a:t>
            </a:r>
            <a:r>
              <a:rPr lang="pt-BR" sz="2000" b="0" u="none" spc="96" strike="noStrike">
                <a:solidFill>
                  <a:schemeClr val="dk1"/>
                </a:solidFill>
                <a:effectLst/>
                <a:uFillTx/>
                <a:latin typeface="Arial"/>
              </a:rPr>
              <a:t>ograma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object 5"/>
          <p:cNvSpPr/>
          <p:nvPr/>
        </p:nvSpPr>
        <p:spPr>
          <a:xfrm>
            <a:off x="223920" y="501480"/>
            <a:ext cx="7116840" cy="11379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object 6"/>
          <p:cNvSpPr/>
          <p:nvPr/>
        </p:nvSpPr>
        <p:spPr>
          <a:xfrm>
            <a:off x="1213200" y="2187000"/>
            <a:ext cx="5565240" cy="44452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object 7"/>
          <p:cNvSpPr/>
          <p:nvPr/>
        </p:nvSpPr>
        <p:spPr>
          <a:xfrm>
            <a:off x="1331640" y="2295360"/>
            <a:ext cx="5328000" cy="422964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32"/>
          </p:nvPr>
        </p:nvSpPr>
        <p:spPr>
          <a:xfrm>
            <a:off x="3733920" y="6540120"/>
            <a:ext cx="4575960" cy="187560"/>
          </a:xfrm>
          <a:prstGeom prst="rect">
            <a:avLst/>
          </a:prstGeom>
          <a:noFill/>
          <a:ln w="0">
            <a:noFill/>
          </a:ln>
        </p:spPr>
        <p:txBody>
          <a:bodyPr lIns="0" tIns="2520" rIns="0" bIns="0" anchor="t">
            <a:sp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ETECZL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– Aulas de Fundamentos Informática-Arduino</a:t>
            </a: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-</a:t>
            </a:r>
            <a:r>
              <a:rPr lang="pt-BR" sz="1200" b="1" u="none" spc="-11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@2019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object 9"/>
          <p:cNvSpPr/>
          <p:nvPr/>
        </p:nvSpPr>
        <p:spPr>
          <a:xfrm>
            <a:off x="8534520" y="6540120"/>
            <a:ext cx="41256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20" rIns="0" bIns="0" anchor="t">
            <a:spAutoFit/>
          </a:bodyPr>
          <a:p>
            <a:pPr marL="25560" defTabSz="914400">
              <a:lnSpc>
                <a:spcPct val="100000"/>
              </a:lnSpc>
              <a:spcBef>
                <a:spcPts val="20"/>
              </a:spcBef>
            </a:pPr>
            <a:fld id="{E1037EC7-9993-4124-BF38-67F871ADE2DD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object 3"/>
          <p:cNvSpPr/>
          <p:nvPr/>
        </p:nvSpPr>
        <p:spPr>
          <a:xfrm>
            <a:off x="1927800" y="2277000"/>
            <a:ext cx="5524200" cy="40762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object 4"/>
          <p:cNvSpPr/>
          <p:nvPr/>
        </p:nvSpPr>
        <p:spPr>
          <a:xfrm>
            <a:off x="3464280" y="3546360"/>
            <a:ext cx="559080" cy="413640"/>
          </a:xfrm>
          <a:custGeom>
            <a:avLst/>
            <a:gdLst>
              <a:gd name="textAreaLeft" fmla="*/ 0 w 559080"/>
              <a:gd name="textAreaRight" fmla="*/ 559440 w 559080"/>
              <a:gd name="textAreaTop" fmla="*/ 0 h 413640"/>
              <a:gd name="textAreaBottom" fmla="*/ 414000 h 413640"/>
            </a:gdLst>
            <a:ahLst/>
            <a:cxnLst/>
            <a:rect l="textAreaLeft" t="textAreaTop" r="textAreaRight" b="textAreaBottom"/>
            <a:pathLst>
              <a:path w="559435" h="414020">
                <a:moveTo>
                  <a:pt x="278638" y="0"/>
                </a:moveTo>
                <a:lnTo>
                  <a:pt x="223774" y="3810"/>
                </a:lnTo>
                <a:lnTo>
                  <a:pt x="172465" y="15239"/>
                </a:lnTo>
                <a:lnTo>
                  <a:pt x="125602" y="34289"/>
                </a:lnTo>
                <a:lnTo>
                  <a:pt x="84327" y="58420"/>
                </a:lnTo>
                <a:lnTo>
                  <a:pt x="49656" y="88900"/>
                </a:lnTo>
                <a:lnTo>
                  <a:pt x="22859" y="124459"/>
                </a:lnTo>
                <a:lnTo>
                  <a:pt x="6095" y="163830"/>
                </a:lnTo>
                <a:lnTo>
                  <a:pt x="0" y="208280"/>
                </a:lnTo>
                <a:lnTo>
                  <a:pt x="507" y="219709"/>
                </a:lnTo>
                <a:lnTo>
                  <a:pt x="9905" y="262889"/>
                </a:lnTo>
                <a:lnTo>
                  <a:pt x="36956" y="311150"/>
                </a:lnTo>
                <a:lnTo>
                  <a:pt x="68071" y="342900"/>
                </a:lnTo>
                <a:lnTo>
                  <a:pt x="106299" y="370839"/>
                </a:lnTo>
                <a:lnTo>
                  <a:pt x="150367" y="391159"/>
                </a:lnTo>
                <a:lnTo>
                  <a:pt x="199643" y="406400"/>
                </a:lnTo>
                <a:lnTo>
                  <a:pt x="252729" y="414019"/>
                </a:lnTo>
                <a:lnTo>
                  <a:pt x="308228" y="414019"/>
                </a:lnTo>
                <a:lnTo>
                  <a:pt x="361441" y="406400"/>
                </a:lnTo>
                <a:lnTo>
                  <a:pt x="386714" y="398780"/>
                </a:lnTo>
                <a:lnTo>
                  <a:pt x="410717" y="391159"/>
                </a:lnTo>
                <a:lnTo>
                  <a:pt x="430609" y="382269"/>
                </a:lnTo>
                <a:lnTo>
                  <a:pt x="279400" y="382269"/>
                </a:lnTo>
                <a:lnTo>
                  <a:pt x="254000" y="381000"/>
                </a:lnTo>
                <a:lnTo>
                  <a:pt x="182879" y="368300"/>
                </a:lnTo>
                <a:lnTo>
                  <a:pt x="140842" y="351789"/>
                </a:lnTo>
                <a:lnTo>
                  <a:pt x="104266" y="330200"/>
                </a:lnTo>
                <a:lnTo>
                  <a:pt x="74421" y="303530"/>
                </a:lnTo>
                <a:lnTo>
                  <a:pt x="43814" y="257809"/>
                </a:lnTo>
                <a:lnTo>
                  <a:pt x="37972" y="241300"/>
                </a:lnTo>
                <a:lnTo>
                  <a:pt x="35687" y="233680"/>
                </a:lnTo>
                <a:lnTo>
                  <a:pt x="34289" y="224789"/>
                </a:lnTo>
                <a:lnTo>
                  <a:pt x="33274" y="215900"/>
                </a:lnTo>
                <a:lnTo>
                  <a:pt x="33056" y="208280"/>
                </a:lnTo>
                <a:lnTo>
                  <a:pt x="33056" y="205739"/>
                </a:lnTo>
                <a:lnTo>
                  <a:pt x="40639" y="163830"/>
                </a:lnTo>
                <a:lnTo>
                  <a:pt x="62483" y="124459"/>
                </a:lnTo>
                <a:lnTo>
                  <a:pt x="88900" y="96519"/>
                </a:lnTo>
                <a:lnTo>
                  <a:pt x="122300" y="72389"/>
                </a:lnTo>
                <a:lnTo>
                  <a:pt x="161543" y="53339"/>
                </a:lnTo>
                <a:lnTo>
                  <a:pt x="205993" y="40639"/>
                </a:lnTo>
                <a:lnTo>
                  <a:pt x="254380" y="33020"/>
                </a:lnTo>
                <a:lnTo>
                  <a:pt x="431418" y="33020"/>
                </a:lnTo>
                <a:lnTo>
                  <a:pt x="408558" y="22860"/>
                </a:lnTo>
                <a:lnTo>
                  <a:pt x="384682" y="15239"/>
                </a:lnTo>
                <a:lnTo>
                  <a:pt x="359537" y="8889"/>
                </a:lnTo>
                <a:lnTo>
                  <a:pt x="333247" y="3810"/>
                </a:lnTo>
                <a:lnTo>
                  <a:pt x="306324" y="1270"/>
                </a:lnTo>
                <a:lnTo>
                  <a:pt x="278638" y="0"/>
                </a:lnTo>
                <a:close/>
              </a:path>
              <a:path w="559435" h="414020">
                <a:moveTo>
                  <a:pt x="431418" y="33020"/>
                </a:moveTo>
                <a:lnTo>
                  <a:pt x="279780" y="33020"/>
                </a:lnTo>
                <a:lnTo>
                  <a:pt x="305053" y="34289"/>
                </a:lnTo>
                <a:lnTo>
                  <a:pt x="329691" y="36829"/>
                </a:lnTo>
                <a:lnTo>
                  <a:pt x="376300" y="46989"/>
                </a:lnTo>
                <a:lnTo>
                  <a:pt x="418211" y="63500"/>
                </a:lnTo>
                <a:lnTo>
                  <a:pt x="454787" y="85089"/>
                </a:lnTo>
                <a:lnTo>
                  <a:pt x="484758" y="110489"/>
                </a:lnTo>
                <a:lnTo>
                  <a:pt x="515365" y="156209"/>
                </a:lnTo>
                <a:lnTo>
                  <a:pt x="525779" y="198119"/>
                </a:lnTo>
                <a:lnTo>
                  <a:pt x="525997" y="205739"/>
                </a:lnTo>
                <a:lnTo>
                  <a:pt x="525997" y="208280"/>
                </a:lnTo>
                <a:lnTo>
                  <a:pt x="518413" y="250189"/>
                </a:lnTo>
                <a:lnTo>
                  <a:pt x="496696" y="289559"/>
                </a:lnTo>
                <a:lnTo>
                  <a:pt x="470280" y="317500"/>
                </a:lnTo>
                <a:lnTo>
                  <a:pt x="436879" y="341630"/>
                </a:lnTo>
                <a:lnTo>
                  <a:pt x="397509" y="360680"/>
                </a:lnTo>
                <a:lnTo>
                  <a:pt x="353187" y="373380"/>
                </a:lnTo>
                <a:lnTo>
                  <a:pt x="304672" y="381000"/>
                </a:lnTo>
                <a:lnTo>
                  <a:pt x="279400" y="382269"/>
                </a:lnTo>
                <a:lnTo>
                  <a:pt x="430609" y="382269"/>
                </a:lnTo>
                <a:lnTo>
                  <a:pt x="474852" y="355600"/>
                </a:lnTo>
                <a:lnTo>
                  <a:pt x="509524" y="325119"/>
                </a:lnTo>
                <a:lnTo>
                  <a:pt x="536320" y="289559"/>
                </a:lnTo>
                <a:lnTo>
                  <a:pt x="553084" y="250189"/>
                </a:lnTo>
                <a:lnTo>
                  <a:pt x="559053" y="205739"/>
                </a:lnTo>
                <a:lnTo>
                  <a:pt x="558672" y="194309"/>
                </a:lnTo>
                <a:lnTo>
                  <a:pt x="549275" y="152400"/>
                </a:lnTo>
                <a:lnTo>
                  <a:pt x="522096" y="102869"/>
                </a:lnTo>
                <a:lnTo>
                  <a:pt x="490981" y="71119"/>
                </a:lnTo>
                <a:lnTo>
                  <a:pt x="452881" y="44450"/>
                </a:lnTo>
                <a:lnTo>
                  <a:pt x="431418" y="33020"/>
                </a:lnTo>
                <a:close/>
              </a:path>
              <a:path w="559435" h="414020">
                <a:moveTo>
                  <a:pt x="280162" y="43179"/>
                </a:moveTo>
                <a:lnTo>
                  <a:pt x="231775" y="46989"/>
                </a:lnTo>
                <a:lnTo>
                  <a:pt x="186816" y="57150"/>
                </a:lnTo>
                <a:lnTo>
                  <a:pt x="146430" y="72389"/>
                </a:lnTo>
                <a:lnTo>
                  <a:pt x="111505" y="92709"/>
                </a:lnTo>
                <a:lnTo>
                  <a:pt x="71627" y="130809"/>
                </a:lnTo>
                <a:lnTo>
                  <a:pt x="51180" y="167639"/>
                </a:lnTo>
                <a:lnTo>
                  <a:pt x="44195" y="214630"/>
                </a:lnTo>
                <a:lnTo>
                  <a:pt x="45084" y="223519"/>
                </a:lnTo>
                <a:lnTo>
                  <a:pt x="61087" y="267969"/>
                </a:lnTo>
                <a:lnTo>
                  <a:pt x="95250" y="308609"/>
                </a:lnTo>
                <a:lnTo>
                  <a:pt x="127000" y="331469"/>
                </a:lnTo>
                <a:lnTo>
                  <a:pt x="164718" y="350519"/>
                </a:lnTo>
                <a:lnTo>
                  <a:pt x="207644" y="363219"/>
                </a:lnTo>
                <a:lnTo>
                  <a:pt x="254380" y="369569"/>
                </a:lnTo>
                <a:lnTo>
                  <a:pt x="278891" y="370839"/>
                </a:lnTo>
                <a:lnTo>
                  <a:pt x="303529" y="369569"/>
                </a:lnTo>
                <a:lnTo>
                  <a:pt x="327278" y="367030"/>
                </a:lnTo>
                <a:lnTo>
                  <a:pt x="350392" y="363219"/>
                </a:lnTo>
                <a:lnTo>
                  <a:pt x="363499" y="359409"/>
                </a:lnTo>
                <a:lnTo>
                  <a:pt x="278511" y="359409"/>
                </a:lnTo>
                <a:lnTo>
                  <a:pt x="231775" y="356869"/>
                </a:lnTo>
                <a:lnTo>
                  <a:pt x="188340" y="346709"/>
                </a:lnTo>
                <a:lnTo>
                  <a:pt x="149605" y="331469"/>
                </a:lnTo>
                <a:lnTo>
                  <a:pt x="116204" y="311150"/>
                </a:lnTo>
                <a:lnTo>
                  <a:pt x="78866" y="275589"/>
                </a:lnTo>
                <a:lnTo>
                  <a:pt x="58927" y="234950"/>
                </a:lnTo>
                <a:lnTo>
                  <a:pt x="54990" y="205739"/>
                </a:lnTo>
                <a:lnTo>
                  <a:pt x="55244" y="198119"/>
                </a:lnTo>
                <a:lnTo>
                  <a:pt x="71754" y="149859"/>
                </a:lnTo>
                <a:lnTo>
                  <a:pt x="104139" y="113030"/>
                </a:lnTo>
                <a:lnTo>
                  <a:pt x="151637" y="82550"/>
                </a:lnTo>
                <a:lnTo>
                  <a:pt x="190372" y="67309"/>
                </a:lnTo>
                <a:lnTo>
                  <a:pt x="233806" y="58420"/>
                </a:lnTo>
                <a:lnTo>
                  <a:pt x="280415" y="54610"/>
                </a:lnTo>
                <a:lnTo>
                  <a:pt x="362521" y="54610"/>
                </a:lnTo>
                <a:lnTo>
                  <a:pt x="351536" y="52070"/>
                </a:lnTo>
                <a:lnTo>
                  <a:pt x="328549" y="46989"/>
                </a:lnTo>
                <a:lnTo>
                  <a:pt x="304672" y="44450"/>
                </a:lnTo>
                <a:lnTo>
                  <a:pt x="280162" y="43179"/>
                </a:lnTo>
                <a:close/>
              </a:path>
              <a:path w="559435" h="414020">
                <a:moveTo>
                  <a:pt x="362521" y="54610"/>
                </a:moveTo>
                <a:lnTo>
                  <a:pt x="280415" y="54610"/>
                </a:lnTo>
                <a:lnTo>
                  <a:pt x="304291" y="55879"/>
                </a:lnTo>
                <a:lnTo>
                  <a:pt x="327405" y="58420"/>
                </a:lnTo>
                <a:lnTo>
                  <a:pt x="370713" y="68580"/>
                </a:lnTo>
                <a:lnTo>
                  <a:pt x="409447" y="83819"/>
                </a:lnTo>
                <a:lnTo>
                  <a:pt x="442849" y="102869"/>
                </a:lnTo>
                <a:lnTo>
                  <a:pt x="480313" y="139700"/>
                </a:lnTo>
                <a:lnTo>
                  <a:pt x="500252" y="179069"/>
                </a:lnTo>
                <a:lnTo>
                  <a:pt x="504063" y="208280"/>
                </a:lnTo>
                <a:lnTo>
                  <a:pt x="503808" y="215900"/>
                </a:lnTo>
                <a:lnTo>
                  <a:pt x="487299" y="265430"/>
                </a:lnTo>
                <a:lnTo>
                  <a:pt x="455040" y="302259"/>
                </a:lnTo>
                <a:lnTo>
                  <a:pt x="407415" y="332739"/>
                </a:lnTo>
                <a:lnTo>
                  <a:pt x="368680" y="346709"/>
                </a:lnTo>
                <a:lnTo>
                  <a:pt x="325374" y="356869"/>
                </a:lnTo>
                <a:lnTo>
                  <a:pt x="302387" y="359409"/>
                </a:lnTo>
                <a:lnTo>
                  <a:pt x="363499" y="359409"/>
                </a:lnTo>
                <a:lnTo>
                  <a:pt x="412622" y="341630"/>
                </a:lnTo>
                <a:lnTo>
                  <a:pt x="447547" y="321309"/>
                </a:lnTo>
                <a:lnTo>
                  <a:pt x="487552" y="284480"/>
                </a:lnTo>
                <a:lnTo>
                  <a:pt x="508000" y="247650"/>
                </a:lnTo>
                <a:lnTo>
                  <a:pt x="515112" y="208280"/>
                </a:lnTo>
                <a:lnTo>
                  <a:pt x="514857" y="199389"/>
                </a:lnTo>
                <a:lnTo>
                  <a:pt x="505587" y="161289"/>
                </a:lnTo>
                <a:lnTo>
                  <a:pt x="477138" y="118109"/>
                </a:lnTo>
                <a:lnTo>
                  <a:pt x="432053" y="82550"/>
                </a:lnTo>
                <a:lnTo>
                  <a:pt x="394334" y="64769"/>
                </a:lnTo>
                <a:lnTo>
                  <a:pt x="373506" y="57150"/>
                </a:lnTo>
                <a:lnTo>
                  <a:pt x="362521" y="54610"/>
                </a:lnTo>
                <a:close/>
              </a:path>
            </a:pathLst>
          </a:custGeom>
          <a:solidFill>
            <a:srgbClr val="DA1F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object 5"/>
          <p:cNvSpPr/>
          <p:nvPr/>
        </p:nvSpPr>
        <p:spPr>
          <a:xfrm>
            <a:off x="617040" y="2688480"/>
            <a:ext cx="1412280" cy="9810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object 6"/>
          <p:cNvSpPr/>
          <p:nvPr/>
        </p:nvSpPr>
        <p:spPr>
          <a:xfrm>
            <a:off x="752760" y="2698920"/>
            <a:ext cx="1205280" cy="10206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object 7"/>
          <p:cNvSpPr/>
          <p:nvPr/>
        </p:nvSpPr>
        <p:spPr>
          <a:xfrm>
            <a:off x="675000" y="2709000"/>
            <a:ext cx="1295640" cy="8636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object 8"/>
          <p:cNvSpPr/>
          <p:nvPr/>
        </p:nvSpPr>
        <p:spPr>
          <a:xfrm>
            <a:off x="675000" y="2709000"/>
            <a:ext cx="1296360" cy="864000"/>
          </a:xfrm>
          <a:prstGeom prst="rect">
            <a:avLst/>
          </a:prstGeom>
          <a:noFill/>
          <a:ln w="9525">
            <a:solidFill>
              <a:srgbClr val="EB63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37440" rIns="0" bIns="0" anchor="t">
            <a:spAutoFit/>
          </a:bodyPr>
          <a:p>
            <a:pPr marL="252720" algn="ctr" defTabSz="914400">
              <a:lnSpc>
                <a:spcPct val="100000"/>
              </a:lnSpc>
              <a:spcBef>
                <a:spcPts val="295"/>
              </a:spcBef>
            </a:pPr>
            <a:r>
              <a:rPr lang="pt-BR" sz="1600" b="0" u="none" spc="-14" strike="noStrike">
                <a:solidFill>
                  <a:schemeClr val="dk1"/>
                </a:solidFill>
                <a:effectLst/>
                <a:uFillTx/>
                <a:latin typeface="Arial"/>
              </a:rPr>
              <a:t>Resi</a:t>
            </a:r>
            <a:r>
              <a:rPr lang="pt-BR" sz="1600" b="0" u="none" spc="79" strike="noStrike">
                <a:solidFill>
                  <a:schemeClr val="dk1"/>
                </a:solidFill>
                <a:effectLst/>
                <a:uFillTx/>
                <a:latin typeface="Arial"/>
              </a:rPr>
              <a:t>stor  </a:t>
            </a:r>
            <a:r>
              <a:rPr lang="pt-BR" sz="1600" b="0" u="none" spc="145" strike="noStrike">
                <a:solidFill>
                  <a:schemeClr val="dk1"/>
                </a:solidFill>
                <a:effectLst/>
                <a:uFillTx/>
                <a:latin typeface="Arial"/>
              </a:rPr>
              <a:t>pull-up  </a:t>
            </a:r>
            <a:r>
              <a:rPr lang="pt-BR" sz="1600" b="0" u="none" spc="113" strike="noStrike">
                <a:solidFill>
                  <a:srgbClr val="FF0000"/>
                </a:solidFill>
                <a:effectLst/>
                <a:uFillTx/>
                <a:latin typeface="Arial"/>
              </a:rPr>
              <a:t>10k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object 9"/>
          <p:cNvSpPr/>
          <p:nvPr/>
        </p:nvSpPr>
        <p:spPr>
          <a:xfrm>
            <a:off x="1322640" y="3566520"/>
            <a:ext cx="2168640" cy="230040"/>
          </a:xfrm>
          <a:custGeom>
            <a:avLst/>
            <a:gdLst>
              <a:gd name="textAreaLeft" fmla="*/ 0 w 2168640"/>
              <a:gd name="textAreaRight" fmla="*/ 2169000 w 2168640"/>
              <a:gd name="textAreaTop" fmla="*/ 0 h 230040"/>
              <a:gd name="textAreaBottom" fmla="*/ 230400 h 230040"/>
            </a:gdLst>
            <a:ahLst/>
            <a:cxnLst/>
            <a:rect l="textAreaLeft" t="textAreaTop" r="textAreaRight" b="textAreaBottom"/>
            <a:pathLst>
              <a:path w="2169160" h="230504">
                <a:moveTo>
                  <a:pt x="2132694" y="189702"/>
                </a:moveTo>
                <a:lnTo>
                  <a:pt x="2071116" y="219075"/>
                </a:lnTo>
                <a:lnTo>
                  <a:pt x="2069845" y="222885"/>
                </a:lnTo>
                <a:lnTo>
                  <a:pt x="2071243" y="226060"/>
                </a:lnTo>
                <a:lnTo>
                  <a:pt x="2072767" y="229235"/>
                </a:lnTo>
                <a:lnTo>
                  <a:pt x="2076577" y="230505"/>
                </a:lnTo>
                <a:lnTo>
                  <a:pt x="2079752" y="229108"/>
                </a:lnTo>
                <a:lnTo>
                  <a:pt x="2158017" y="191643"/>
                </a:lnTo>
                <a:lnTo>
                  <a:pt x="2156079" y="191643"/>
                </a:lnTo>
                <a:lnTo>
                  <a:pt x="2132694" y="189702"/>
                </a:lnTo>
                <a:close/>
              </a:path>
              <a:path w="2169160" h="230504">
                <a:moveTo>
                  <a:pt x="2144106" y="184258"/>
                </a:moveTo>
                <a:lnTo>
                  <a:pt x="2132694" y="189702"/>
                </a:lnTo>
                <a:lnTo>
                  <a:pt x="2156079" y="191643"/>
                </a:lnTo>
                <a:lnTo>
                  <a:pt x="2156181" y="190500"/>
                </a:lnTo>
                <a:lnTo>
                  <a:pt x="2153031" y="190500"/>
                </a:lnTo>
                <a:lnTo>
                  <a:pt x="2144106" y="184258"/>
                </a:lnTo>
                <a:close/>
              </a:path>
              <a:path w="2169160" h="230504">
                <a:moveTo>
                  <a:pt x="2085212" y="127508"/>
                </a:moveTo>
                <a:lnTo>
                  <a:pt x="2081148" y="128270"/>
                </a:lnTo>
                <a:lnTo>
                  <a:pt x="2079244" y="131064"/>
                </a:lnTo>
                <a:lnTo>
                  <a:pt x="2077211" y="133985"/>
                </a:lnTo>
                <a:lnTo>
                  <a:pt x="2077846" y="137922"/>
                </a:lnTo>
                <a:lnTo>
                  <a:pt x="2133715" y="176992"/>
                </a:lnTo>
                <a:lnTo>
                  <a:pt x="2157222" y="178943"/>
                </a:lnTo>
                <a:lnTo>
                  <a:pt x="2156079" y="191643"/>
                </a:lnTo>
                <a:lnTo>
                  <a:pt x="2158017" y="191643"/>
                </a:lnTo>
                <a:lnTo>
                  <a:pt x="2169160" y="186309"/>
                </a:lnTo>
                <a:lnTo>
                  <a:pt x="2088007" y="129540"/>
                </a:lnTo>
                <a:lnTo>
                  <a:pt x="2085212" y="127508"/>
                </a:lnTo>
                <a:close/>
              </a:path>
              <a:path w="2169160" h="230504">
                <a:moveTo>
                  <a:pt x="2153920" y="179578"/>
                </a:moveTo>
                <a:lnTo>
                  <a:pt x="2144106" y="184258"/>
                </a:lnTo>
                <a:lnTo>
                  <a:pt x="2153031" y="190500"/>
                </a:lnTo>
                <a:lnTo>
                  <a:pt x="2153920" y="179578"/>
                </a:lnTo>
                <a:close/>
              </a:path>
              <a:path w="2169160" h="230504">
                <a:moveTo>
                  <a:pt x="2157164" y="179578"/>
                </a:moveTo>
                <a:lnTo>
                  <a:pt x="2153920" y="179578"/>
                </a:lnTo>
                <a:lnTo>
                  <a:pt x="2153031" y="190500"/>
                </a:lnTo>
                <a:lnTo>
                  <a:pt x="2156181" y="190500"/>
                </a:lnTo>
                <a:lnTo>
                  <a:pt x="2157164" y="179578"/>
                </a:lnTo>
                <a:close/>
              </a:path>
              <a:path w="2169160" h="230504">
                <a:moveTo>
                  <a:pt x="1015" y="0"/>
                </a:moveTo>
                <a:lnTo>
                  <a:pt x="0" y="12700"/>
                </a:lnTo>
                <a:lnTo>
                  <a:pt x="2132694" y="189702"/>
                </a:lnTo>
                <a:lnTo>
                  <a:pt x="2144106" y="184258"/>
                </a:lnTo>
                <a:lnTo>
                  <a:pt x="2133715" y="176992"/>
                </a:lnTo>
                <a:lnTo>
                  <a:pt x="1015" y="0"/>
                </a:lnTo>
                <a:close/>
              </a:path>
              <a:path w="2169160" h="230504">
                <a:moveTo>
                  <a:pt x="2133715" y="176992"/>
                </a:moveTo>
                <a:lnTo>
                  <a:pt x="2144106" y="184258"/>
                </a:lnTo>
                <a:lnTo>
                  <a:pt x="2153920" y="179578"/>
                </a:lnTo>
                <a:lnTo>
                  <a:pt x="2157164" y="179578"/>
                </a:lnTo>
                <a:lnTo>
                  <a:pt x="2157222" y="178943"/>
                </a:lnTo>
                <a:lnTo>
                  <a:pt x="2133715" y="17699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45840" y="1454040"/>
            <a:ext cx="5853600" cy="41184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0"/>
              </a:spcBef>
              <a:buNone/>
              <a:tabLst>
                <a:tab pos="268560" algn="l"/>
              </a:tabLst>
            </a:pPr>
            <a:r>
              <a:rPr lang="pt-BR" sz="1600" b="0" u="none" spc="-451" strike="noStrike">
                <a:solidFill>
                  <a:srgbClr val="2CA1BE"/>
                </a:solidFill>
                <a:effectLst/>
                <a:uFillTx/>
                <a:latin typeface="Arial"/>
              </a:rPr>
              <a:t></a:t>
            </a:r>
            <a:r>
              <a:rPr lang="pt-BR" sz="1600" b="0" u="none" spc="-451" strike="noStrike">
                <a:solidFill>
                  <a:srgbClr val="2CA1BE"/>
                </a:solidFill>
                <a:effectLst/>
                <a:uFillTx/>
                <a:latin typeface="Arial"/>
              </a:rPr>
              <a:t>	</a:t>
            </a:r>
            <a:r>
              <a:rPr lang="pt-BR" sz="2400" b="0" u="none" spc="74" strike="noStrike">
                <a:solidFill>
                  <a:srgbClr val="000000"/>
                </a:solidFill>
                <a:effectLst/>
                <a:uFillTx/>
                <a:latin typeface="Arial"/>
              </a:rPr>
              <a:t>Lendo </a:t>
            </a:r>
            <a:r>
              <a:rPr lang="pt-BR" sz="2400" b="0" u="none" spc="196" strike="noStrike">
                <a:solidFill>
                  <a:srgbClr val="000000"/>
                </a:solidFill>
                <a:effectLst/>
                <a:uFillTx/>
                <a:latin typeface="Arial"/>
              </a:rPr>
              <a:t>um </a:t>
            </a:r>
            <a:r>
              <a:rPr lang="pt-BR" sz="2400" b="0" u="none" spc="130" strike="noStrike">
                <a:solidFill>
                  <a:srgbClr val="000000"/>
                </a:solidFill>
                <a:effectLst/>
                <a:uFillTx/>
                <a:latin typeface="Arial"/>
              </a:rPr>
              <a:t>botão com </a:t>
            </a:r>
            <a:r>
              <a:rPr lang="pt-BR" sz="2400" b="0" u="none" spc="111" strike="noStrike">
                <a:solidFill>
                  <a:srgbClr val="000000"/>
                </a:solidFill>
                <a:effectLst/>
                <a:uFillTx/>
                <a:latin typeface="Arial"/>
              </a:rPr>
              <a:t>resistor</a:t>
            </a:r>
            <a:r>
              <a:rPr lang="pt-BR" sz="2400" b="0" u="none" spc="-3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pt-BR" sz="2500" b="0" i="1" u="none" spc="176" strike="noStrike">
                <a:solidFill>
                  <a:srgbClr val="FF0000"/>
                </a:solidFill>
                <a:effectLst/>
                <a:uFillTx/>
                <a:latin typeface="Arial"/>
              </a:rPr>
              <a:t>pull-up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object 11"/>
          <p:cNvSpPr/>
          <p:nvPr/>
        </p:nvSpPr>
        <p:spPr>
          <a:xfrm>
            <a:off x="929520" y="1881720"/>
            <a:ext cx="303696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41200" indent="-228600" defTabSz="91440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Font typeface="Verdana"/>
              <a:buChar char="◦"/>
              <a:tabLst>
                <a:tab pos="240840" algn="l"/>
                <a:tab pos="241200" algn="l"/>
              </a:tabLst>
            </a:pPr>
            <a:r>
              <a:rPr lang="pt-BR" sz="2000" b="0" u="none" spc="45" strike="noStrike">
                <a:solidFill>
                  <a:schemeClr val="dk1"/>
                </a:solidFill>
                <a:effectLst/>
                <a:uFillTx/>
                <a:latin typeface="Arial"/>
              </a:rPr>
              <a:t>Ligação </a:t>
            </a:r>
            <a:r>
              <a:rPr lang="pt-BR" sz="2000" b="0" u="none" spc="60" strike="noStrike">
                <a:solidFill>
                  <a:schemeClr val="dk1"/>
                </a:solidFill>
                <a:effectLst/>
                <a:uFillTx/>
                <a:latin typeface="Arial"/>
              </a:rPr>
              <a:t>na</a:t>
            </a: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pt-BR" sz="2000" b="0" u="none" spc="125" strike="noStrike">
                <a:solidFill>
                  <a:schemeClr val="dk1"/>
                </a:solidFill>
                <a:effectLst/>
                <a:uFillTx/>
                <a:latin typeface="Arial"/>
              </a:rPr>
              <a:t>protoboard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object 12"/>
          <p:cNvSpPr/>
          <p:nvPr/>
        </p:nvSpPr>
        <p:spPr>
          <a:xfrm>
            <a:off x="223920" y="501480"/>
            <a:ext cx="7116840" cy="113796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ftr" idx="33"/>
          </p:nvPr>
        </p:nvSpPr>
        <p:spPr>
          <a:xfrm>
            <a:off x="3733920" y="6540120"/>
            <a:ext cx="4575960" cy="187560"/>
          </a:xfrm>
          <a:prstGeom prst="rect">
            <a:avLst/>
          </a:prstGeom>
          <a:noFill/>
          <a:ln w="0">
            <a:noFill/>
          </a:ln>
        </p:spPr>
        <p:txBody>
          <a:bodyPr lIns="0" tIns="2520" rIns="0" bIns="0" anchor="t">
            <a:sp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ETECZL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– Aulas de Fundamentos Informática-Arduino</a:t>
            </a: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-</a:t>
            </a:r>
            <a:r>
              <a:rPr lang="pt-BR" sz="1200" b="1" u="none" spc="-11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@2019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object 14"/>
          <p:cNvSpPr/>
          <p:nvPr/>
        </p:nvSpPr>
        <p:spPr>
          <a:xfrm>
            <a:off x="8610480" y="6540120"/>
            <a:ext cx="3362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20" rIns="0" bIns="0" anchor="t">
            <a:spAutoFit/>
          </a:bodyPr>
          <a:p>
            <a:pPr marL="25560" defTabSz="914400">
              <a:lnSpc>
                <a:spcPct val="100000"/>
              </a:lnSpc>
              <a:spcBef>
                <a:spcPts val="20"/>
              </a:spcBef>
            </a:pPr>
            <a:fld id="{75249FEF-99F2-4667-B3C1-9C0603313848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45840" y="1454040"/>
            <a:ext cx="5853600" cy="41184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0"/>
              </a:spcBef>
              <a:buNone/>
              <a:tabLst>
                <a:tab pos="268560" algn="l"/>
              </a:tabLst>
            </a:pPr>
            <a:r>
              <a:rPr lang="pt-BR" sz="1600" b="0" u="none" spc="-451" strike="noStrike">
                <a:solidFill>
                  <a:srgbClr val="2CA1BE"/>
                </a:solidFill>
                <a:effectLst/>
                <a:uFillTx/>
                <a:latin typeface="Arial"/>
              </a:rPr>
              <a:t></a:t>
            </a:r>
            <a:r>
              <a:rPr lang="pt-BR" sz="1600" b="0" u="none" spc="-451" strike="noStrike">
                <a:solidFill>
                  <a:srgbClr val="2CA1BE"/>
                </a:solidFill>
                <a:effectLst/>
                <a:uFillTx/>
                <a:latin typeface="Arial"/>
              </a:rPr>
              <a:t>	</a:t>
            </a:r>
            <a:r>
              <a:rPr lang="pt-BR" sz="2400" b="0" u="none" spc="74" strike="noStrike">
                <a:solidFill>
                  <a:srgbClr val="000000"/>
                </a:solidFill>
                <a:effectLst/>
                <a:uFillTx/>
                <a:latin typeface="Arial"/>
              </a:rPr>
              <a:t>Lendo </a:t>
            </a:r>
            <a:r>
              <a:rPr lang="pt-BR" sz="2400" b="0" u="none" spc="196" strike="noStrike">
                <a:solidFill>
                  <a:srgbClr val="000000"/>
                </a:solidFill>
                <a:effectLst/>
                <a:uFillTx/>
                <a:latin typeface="Arial"/>
              </a:rPr>
              <a:t>um </a:t>
            </a:r>
            <a:r>
              <a:rPr lang="pt-BR" sz="2400" b="0" u="none" spc="130" strike="noStrike">
                <a:solidFill>
                  <a:srgbClr val="000000"/>
                </a:solidFill>
                <a:effectLst/>
                <a:uFillTx/>
                <a:latin typeface="Arial"/>
              </a:rPr>
              <a:t>botão com </a:t>
            </a:r>
            <a:r>
              <a:rPr lang="pt-BR" sz="2400" b="0" u="none" spc="111" strike="noStrike">
                <a:solidFill>
                  <a:srgbClr val="000000"/>
                </a:solidFill>
                <a:effectLst/>
                <a:uFillTx/>
                <a:latin typeface="Arial"/>
              </a:rPr>
              <a:t>resistor</a:t>
            </a:r>
            <a:r>
              <a:rPr lang="pt-BR" sz="2400" b="0" u="none" spc="-3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pt-BR" sz="2500" b="0" i="1" u="none" spc="176" strike="noStrike">
                <a:solidFill>
                  <a:srgbClr val="FF0000"/>
                </a:solidFill>
                <a:effectLst/>
                <a:uFillTx/>
                <a:latin typeface="Arial"/>
              </a:rPr>
              <a:t>pull-up</a:t>
            </a:r>
            <a:endParaRPr lang="pt-BR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object 4"/>
          <p:cNvSpPr/>
          <p:nvPr/>
        </p:nvSpPr>
        <p:spPr>
          <a:xfrm>
            <a:off x="929520" y="1881720"/>
            <a:ext cx="14353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41200" indent="-228600" defTabSz="91440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Font typeface="Verdana"/>
              <a:buChar char="◦"/>
              <a:tabLst>
                <a:tab pos="240840" algn="l"/>
                <a:tab pos="241200" algn="l"/>
              </a:tabLst>
            </a:pPr>
            <a:r>
              <a:rPr lang="pt-BR" sz="2000" b="0" u="none" spc="-51" strike="noStrik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lang="pt-BR" sz="2000" b="0" u="none" spc="-34" strike="noStrike">
                <a:solidFill>
                  <a:schemeClr val="dk1"/>
                </a:solidFill>
                <a:effectLst/>
                <a:uFillTx/>
                <a:latin typeface="Arial"/>
              </a:rPr>
              <a:t>r</a:t>
            </a:r>
            <a:r>
              <a:rPr lang="pt-BR" sz="2000" b="0" u="none" spc="96" strike="noStrike">
                <a:solidFill>
                  <a:schemeClr val="dk1"/>
                </a:solidFill>
                <a:effectLst/>
                <a:uFillTx/>
                <a:latin typeface="Arial"/>
              </a:rPr>
              <a:t>ograma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object 5"/>
          <p:cNvSpPr/>
          <p:nvPr/>
        </p:nvSpPr>
        <p:spPr>
          <a:xfrm>
            <a:off x="223920" y="501480"/>
            <a:ext cx="7116840" cy="11379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object 6"/>
          <p:cNvSpPr/>
          <p:nvPr/>
        </p:nvSpPr>
        <p:spPr>
          <a:xfrm>
            <a:off x="1066680" y="2168640"/>
            <a:ext cx="5713200" cy="44132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object 7"/>
          <p:cNvSpPr/>
          <p:nvPr/>
        </p:nvSpPr>
        <p:spPr>
          <a:xfrm>
            <a:off x="1187640" y="2277000"/>
            <a:ext cx="5472360" cy="41976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ftr" idx="34"/>
          </p:nvPr>
        </p:nvSpPr>
        <p:spPr>
          <a:xfrm>
            <a:off x="3733920" y="6540120"/>
            <a:ext cx="4575960" cy="187560"/>
          </a:xfrm>
          <a:prstGeom prst="rect">
            <a:avLst/>
          </a:prstGeom>
          <a:noFill/>
          <a:ln w="0">
            <a:noFill/>
          </a:ln>
        </p:spPr>
        <p:txBody>
          <a:bodyPr lIns="0" tIns="2520" rIns="0" bIns="0" anchor="t">
            <a:sp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ETECZL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– Aulas de Fundamentos Informática-Arduino</a:t>
            </a: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-</a:t>
            </a:r>
            <a:r>
              <a:rPr lang="pt-BR" sz="1200" b="1" u="none" spc="-11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@2019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object 9"/>
          <p:cNvSpPr/>
          <p:nvPr/>
        </p:nvSpPr>
        <p:spPr>
          <a:xfrm>
            <a:off x="8610480" y="6540120"/>
            <a:ext cx="3362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20" rIns="0" bIns="0" anchor="t">
            <a:spAutoFit/>
          </a:bodyPr>
          <a:p>
            <a:pPr marL="25560" defTabSz="914400">
              <a:lnSpc>
                <a:spcPct val="100000"/>
              </a:lnSpc>
              <a:spcBef>
                <a:spcPts val="20"/>
              </a:spcBef>
            </a:pPr>
            <a:fld id="{3FC8BB51-023E-4DED-B1AB-3DF064343261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45840" y="1433880"/>
            <a:ext cx="1065960" cy="19173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268560" algn="l"/>
              </a:tabLst>
            </a:pPr>
            <a:r>
              <a:rPr lang="pt-BR" sz="1800" b="0" u="none" spc="-505" strike="noStrike">
                <a:solidFill>
                  <a:srgbClr val="2CA1BE"/>
                </a:solidFill>
                <a:effectLst/>
                <a:uFillTx/>
                <a:latin typeface="Arial"/>
              </a:rPr>
              <a:t></a:t>
            </a:r>
            <a:r>
              <a:rPr lang="pt-BR" sz="1800" b="0" u="none" spc="-505" strike="noStrike">
                <a:solidFill>
                  <a:srgbClr val="2CA1BE"/>
                </a:solidFill>
                <a:effectLst/>
                <a:uFillTx/>
                <a:latin typeface="Arial"/>
              </a:rPr>
              <a:t>	</a:t>
            </a:r>
            <a:r>
              <a:rPr lang="pt-BR" sz="2700" b="1" u="none" spc="45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pt-BR" sz="2700" b="1" u="none" spc="11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pt-BR" sz="2700" b="1" u="none" spc="113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pt-BR" sz="2700" b="1" u="none" spc="-14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endParaRPr lang="pt-BR" sz="2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929520" y="1750680"/>
            <a:ext cx="6733800" cy="4074840"/>
          </a:xfrm>
          <a:prstGeom prst="rect">
            <a:avLst/>
          </a:prstGeom>
          <a:noFill/>
          <a:ln w="0">
            <a:noFill/>
          </a:ln>
        </p:spPr>
        <p:txBody>
          <a:bodyPr lIns="0" tIns="103680" rIns="0" bIns="0" anchor="t">
            <a:spAutoFit/>
          </a:bodyPr>
          <a:p>
            <a:pPr marL="241200" indent="-228600" algn="l">
              <a:lnSpc>
                <a:spcPts val="2735"/>
              </a:lnSpc>
              <a:spcBef>
                <a:spcPts val="125"/>
              </a:spcBef>
              <a:buClr>
                <a:srgbClr val="2CA1BE"/>
              </a:buClr>
              <a:buFont typeface="Verdana"/>
              <a:buChar char="◦"/>
              <a:tabLst>
                <a:tab pos="241200" algn="l"/>
                <a:tab pos="718200" algn="l"/>
                <a:tab pos="2099160" algn="l"/>
                <a:tab pos="3275280" algn="l"/>
                <a:tab pos="4911120" algn="l"/>
                <a:tab pos="6228000" algn="l"/>
              </a:tabLst>
            </a:pP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pt-BR" sz="2300" b="0" u="none" spc="136" strike="noStrike">
                <a:solidFill>
                  <a:schemeClr val="dk1"/>
                </a:solidFill>
                <a:effectLst/>
                <a:uFillTx/>
                <a:latin typeface="Arial"/>
              </a:rPr>
              <a:t>Ard</a:t>
            </a:r>
            <a:r>
              <a:rPr lang="pt-BR" sz="2300" b="0" u="none" spc="130" strike="noStrike">
                <a:solidFill>
                  <a:schemeClr val="dk1"/>
                </a:solidFill>
                <a:effectLst/>
                <a:uFillTx/>
                <a:latin typeface="Arial"/>
              </a:rPr>
              <a:t>u</a:t>
            </a:r>
            <a:r>
              <a:rPr lang="pt-BR" sz="2300" b="0" u="none" spc="79" strike="noStrike">
                <a:solidFill>
                  <a:schemeClr val="dk1"/>
                </a:solidFill>
                <a:effectLst/>
                <a:uFillTx/>
                <a:latin typeface="Arial"/>
              </a:rPr>
              <a:t>i</a:t>
            </a:r>
            <a:r>
              <a:rPr lang="pt-BR" sz="2300" b="0" u="none" spc="204" strike="noStrike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pt-BR" sz="2300" b="0" u="none" spc="136" strike="noStrike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pt-BR" sz="2300" b="0" u="none" spc="96" strike="noStrike">
                <a:solidFill>
                  <a:schemeClr val="dk1"/>
                </a:solidFill>
                <a:effectLst/>
                <a:uFillTx/>
                <a:latin typeface="Arial"/>
              </a:rPr>
              <a:t>poss</a:t>
            </a:r>
            <a:r>
              <a:rPr lang="pt-BR" sz="2300" b="0" u="none" spc="91" strike="noStrike">
                <a:solidFill>
                  <a:schemeClr val="dk1"/>
                </a:solidFill>
                <a:effectLst/>
                <a:uFillTx/>
                <a:latin typeface="Arial"/>
              </a:rPr>
              <a:t>u</a:t>
            </a:r>
            <a:r>
              <a:rPr lang="pt-BR" sz="2300" b="0" u="none" spc="156" strike="noStrike">
                <a:solidFill>
                  <a:schemeClr val="dk1"/>
                </a:solidFill>
                <a:effectLst/>
                <a:uFillTx/>
                <a:latin typeface="Arial"/>
              </a:rPr>
              <a:t>i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pt-BR" sz="2300" b="0" u="none" spc="91" strike="noStrike">
                <a:solidFill>
                  <a:schemeClr val="dk1"/>
                </a:solidFill>
                <a:effectLst/>
                <a:uFillTx/>
                <a:latin typeface="Arial"/>
              </a:rPr>
              <a:t>resistor</a:t>
            </a:r>
            <a:r>
              <a:rPr lang="pt-BR" sz="2300" b="0" u="none" spc="113" strike="noStrike">
                <a:solidFill>
                  <a:schemeClr val="dk1"/>
                </a:solidFill>
                <a:effectLst/>
                <a:uFillTx/>
                <a:latin typeface="Arial"/>
              </a:rPr>
              <a:t>e</a:t>
            </a:r>
            <a:r>
              <a:rPr lang="pt-BR" sz="2300" b="0" u="none" spc="20" strike="noStrike">
                <a:solidFill>
                  <a:schemeClr val="dk1"/>
                </a:solidFill>
                <a:effectLst/>
                <a:uFillTx/>
                <a:latin typeface="Arial"/>
              </a:rPr>
              <a:t>s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pt-BR" sz="2400" b="0" i="1" u="none" spc="130" strike="noStrike">
                <a:solidFill>
                  <a:srgbClr val="FF0000"/>
                </a:solidFill>
                <a:effectLst/>
                <a:uFillTx/>
                <a:latin typeface="Arial"/>
              </a:rPr>
              <a:t>pul</a:t>
            </a:r>
            <a:r>
              <a:rPr lang="pt-BR" sz="2400" b="0" i="1" u="none" spc="54" strike="noStrike">
                <a:solidFill>
                  <a:srgbClr val="FF0000"/>
                </a:solidFill>
                <a:effectLst/>
                <a:uFillTx/>
                <a:latin typeface="Arial"/>
              </a:rPr>
              <a:t>l</a:t>
            </a:r>
            <a:r>
              <a:rPr lang="pt-BR" sz="2400" b="0" i="1" u="none" spc="530" strike="noStrike">
                <a:solidFill>
                  <a:srgbClr val="FF0000"/>
                </a:solidFill>
                <a:effectLst/>
                <a:uFillTx/>
                <a:latin typeface="Arial"/>
              </a:rPr>
              <a:t>-</a:t>
            </a:r>
            <a:r>
              <a:rPr lang="pt-BR" sz="2400" b="0" i="1" u="none" spc="99" strike="noStrike">
                <a:solidFill>
                  <a:srgbClr val="FF0000"/>
                </a:solidFill>
                <a:effectLst/>
                <a:uFillTx/>
                <a:latin typeface="Arial"/>
              </a:rPr>
              <a:t>u</a:t>
            </a:r>
            <a:r>
              <a:rPr lang="pt-BR" sz="2400" b="0" i="1" u="none" spc="105" strike="noStrike">
                <a:solidFill>
                  <a:srgbClr val="FF0000"/>
                </a:solidFill>
                <a:effectLst/>
                <a:uFillTx/>
                <a:latin typeface="Arial"/>
              </a:rPr>
              <a:t>p</a:t>
            </a:r>
            <a:r>
              <a:rPr lang="pt-BR" sz="2400" b="0" i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	</a:t>
            </a:r>
            <a:r>
              <a:rPr lang="pt-BR" sz="2300" b="0" u="none" spc="54" strike="noStrike">
                <a:solidFill>
                  <a:schemeClr val="dk1"/>
                </a:solidFill>
                <a:effectLst/>
                <a:uFillTx/>
                <a:latin typeface="Arial"/>
              </a:rPr>
              <a:t>nas</a:t>
            </a:r>
            <a:endParaRPr lang="pt-BR" sz="2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41200" indent="0" algn="l">
              <a:lnSpc>
                <a:spcPts val="2574"/>
              </a:lnSpc>
              <a:buNone/>
              <a:tabLst>
                <a:tab pos="241200" algn="l"/>
                <a:tab pos="718200" algn="l"/>
                <a:tab pos="2099160" algn="l"/>
                <a:tab pos="3275280" algn="l"/>
                <a:tab pos="4911120" algn="l"/>
                <a:tab pos="6228000" algn="l"/>
              </a:tabLst>
            </a:pPr>
            <a:r>
              <a:rPr lang="pt-BR" sz="2300" b="0" u="none" spc="113" strike="noStrike">
                <a:solidFill>
                  <a:schemeClr val="dk1"/>
                </a:solidFill>
                <a:effectLst/>
                <a:uFillTx/>
                <a:latin typeface="Arial"/>
              </a:rPr>
              <a:t>portas</a:t>
            </a:r>
            <a:r>
              <a:rPr lang="pt-BR" sz="2300" b="0" u="none" spc="65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pt-BR" sz="2300" b="0" u="none" spc="119" strike="noStrike">
                <a:solidFill>
                  <a:schemeClr val="dk1"/>
                </a:solidFill>
                <a:effectLst/>
                <a:uFillTx/>
                <a:latin typeface="Arial"/>
              </a:rPr>
              <a:t>digitais.</a:t>
            </a:r>
            <a:endParaRPr lang="pt-BR" sz="2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41200" indent="-228600" algn="just">
              <a:lnSpc>
                <a:spcPts val="2480"/>
              </a:lnSpc>
              <a:spcBef>
                <a:spcPts val="380"/>
              </a:spcBef>
              <a:buClr>
                <a:srgbClr val="2CA1BE"/>
              </a:buClr>
              <a:buFont typeface="Verdana"/>
              <a:buChar char="◦"/>
              <a:tabLst>
                <a:tab pos="241200" algn="l"/>
              </a:tabLst>
            </a:pPr>
            <a:r>
              <a:rPr lang="pt-BR" sz="2300" b="0" u="none" spc="-26" strike="noStrike">
                <a:solidFill>
                  <a:schemeClr val="dk1"/>
                </a:solidFill>
                <a:effectLst/>
                <a:uFillTx/>
                <a:latin typeface="Arial"/>
              </a:rPr>
              <a:t>Para </a:t>
            </a:r>
            <a:r>
              <a:rPr lang="pt-BR" sz="2300" b="0" u="none" spc="91" strike="noStrike">
                <a:solidFill>
                  <a:srgbClr val="FF0000"/>
                </a:solidFill>
                <a:effectLst/>
                <a:uFillTx/>
                <a:latin typeface="Arial"/>
              </a:rPr>
              <a:t>ativar </a:t>
            </a:r>
            <a:r>
              <a:rPr lang="pt-BR" sz="2300" b="0" u="none" spc="79" strike="noStrike">
                <a:solidFill>
                  <a:schemeClr val="dk1"/>
                </a:solidFill>
                <a:effectLst/>
                <a:uFillTx/>
                <a:latin typeface="Arial"/>
              </a:rPr>
              <a:t>os </a:t>
            </a:r>
            <a:r>
              <a:rPr lang="pt-BR" sz="2300" b="0" u="none" spc="91" strike="noStrike">
                <a:solidFill>
                  <a:schemeClr val="dk1"/>
                </a:solidFill>
                <a:effectLst/>
                <a:uFillTx/>
                <a:latin typeface="Arial"/>
              </a:rPr>
              <a:t>resistores </a:t>
            </a:r>
            <a:r>
              <a:rPr lang="pt-BR" sz="2400" b="0" i="1" u="none" spc="164" strike="noStrike">
                <a:solidFill>
                  <a:schemeClr val="dk1"/>
                </a:solidFill>
                <a:effectLst/>
                <a:uFillTx/>
                <a:latin typeface="Arial"/>
              </a:rPr>
              <a:t>pull-up </a:t>
            </a:r>
            <a:r>
              <a:rPr lang="pt-BR" sz="2300" b="0" u="none" spc="85" strike="noStrike">
                <a:solidFill>
                  <a:schemeClr val="dk1"/>
                </a:solidFill>
                <a:effectLst/>
                <a:uFillTx/>
                <a:latin typeface="Arial"/>
              </a:rPr>
              <a:t>de </a:t>
            </a:r>
            <a:r>
              <a:rPr lang="pt-BR" sz="2300" b="0" u="none" spc="119" strike="noStrike">
                <a:solidFill>
                  <a:schemeClr val="dk1"/>
                </a:solidFill>
                <a:effectLst/>
                <a:uFillTx/>
                <a:latin typeface="Arial"/>
              </a:rPr>
              <a:t>uma  </a:t>
            </a:r>
            <a:r>
              <a:rPr lang="pt-BR" sz="2300" b="0" u="none" spc="136" strike="noStrike">
                <a:solidFill>
                  <a:schemeClr val="dk1"/>
                </a:solidFill>
                <a:effectLst/>
                <a:uFillTx/>
                <a:latin typeface="Arial"/>
              </a:rPr>
              <a:t>porta digital </a:t>
            </a:r>
            <a:r>
              <a:rPr lang="pt-BR" sz="2300" b="0" u="none" spc="74" strike="noStrike">
                <a:solidFill>
                  <a:srgbClr val="FF0000"/>
                </a:solidFill>
                <a:effectLst/>
                <a:uFillTx/>
                <a:latin typeface="Arial"/>
              </a:rPr>
              <a:t>basta </a:t>
            </a:r>
            <a:r>
              <a:rPr lang="pt-BR" sz="2300" b="0" u="none" spc="164" strike="noStrike">
                <a:solidFill>
                  <a:srgbClr val="FF0000"/>
                </a:solidFill>
                <a:effectLst/>
                <a:uFillTx/>
                <a:latin typeface="Arial"/>
              </a:rPr>
              <a:t>defini-la </a:t>
            </a:r>
            <a:r>
              <a:rPr lang="pt-BR" sz="2300" b="0" u="none" spc="125" strike="noStrike">
                <a:solidFill>
                  <a:srgbClr val="FF0000"/>
                </a:solidFill>
                <a:effectLst/>
                <a:uFillTx/>
                <a:latin typeface="Arial"/>
              </a:rPr>
              <a:t>como </a:t>
            </a:r>
            <a:r>
              <a:rPr lang="pt-BR" sz="2300" b="0" u="none" spc="96" strike="noStrike">
                <a:solidFill>
                  <a:srgbClr val="FF0000"/>
                </a:solidFill>
                <a:effectLst/>
                <a:uFillTx/>
                <a:latin typeface="Arial"/>
              </a:rPr>
              <a:t>entrada </a:t>
            </a:r>
            <a:r>
              <a:rPr lang="pt-BR" sz="23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e  </a:t>
            </a:r>
            <a:r>
              <a:rPr lang="pt-BR" sz="2300" b="0" u="none" spc="125" strike="noStrike">
                <a:solidFill>
                  <a:srgbClr val="FF0000"/>
                </a:solidFill>
                <a:effectLst/>
                <a:uFillTx/>
                <a:latin typeface="Arial"/>
              </a:rPr>
              <a:t>colocá-la </a:t>
            </a:r>
            <a:r>
              <a:rPr lang="pt-BR" sz="2300" b="0" u="none" spc="113" strike="noStrike">
                <a:solidFill>
                  <a:srgbClr val="FF0000"/>
                </a:solidFill>
                <a:effectLst/>
                <a:uFillTx/>
                <a:latin typeface="Arial"/>
              </a:rPr>
              <a:t>em </a:t>
            </a:r>
            <a:r>
              <a:rPr lang="pt-BR" sz="2300" b="0" u="none" spc="65" strike="noStrike">
                <a:solidFill>
                  <a:srgbClr val="FF0000"/>
                </a:solidFill>
                <a:effectLst/>
                <a:uFillTx/>
                <a:latin typeface="Arial"/>
              </a:rPr>
              <a:t>nível </a:t>
            </a:r>
            <a:r>
              <a:rPr lang="pt-BR" sz="2300" b="0" u="none" spc="125" strike="noStrike">
                <a:solidFill>
                  <a:srgbClr val="FF0000"/>
                </a:solidFill>
                <a:effectLst/>
                <a:uFillTx/>
                <a:latin typeface="Arial"/>
              </a:rPr>
              <a:t>alto </a:t>
            </a:r>
            <a:r>
              <a:rPr lang="pt-BR" sz="2300" b="0" u="none" spc="-20" strike="noStrike">
                <a:solidFill>
                  <a:srgbClr val="FF0000"/>
                </a:solidFill>
                <a:effectLst/>
                <a:uFillTx/>
                <a:latin typeface="Arial"/>
              </a:rPr>
              <a:t>(HIGH) </a:t>
            </a:r>
            <a:r>
              <a:rPr lang="pt-BR" sz="2300" b="0" u="none" spc="65" strike="noStrike">
                <a:solidFill>
                  <a:schemeClr val="dk1"/>
                </a:solidFill>
                <a:effectLst/>
                <a:uFillTx/>
                <a:latin typeface="Arial"/>
              </a:rPr>
              <a:t>na </a:t>
            </a:r>
            <a:r>
              <a:rPr lang="pt-BR" sz="2300" b="0" u="none" spc="99" strike="noStrike">
                <a:solidFill>
                  <a:schemeClr val="dk1"/>
                </a:solidFill>
                <a:effectLst/>
                <a:uFillTx/>
                <a:latin typeface="Arial"/>
              </a:rPr>
              <a:t>função  </a:t>
            </a:r>
            <a:r>
              <a:rPr lang="pt-BR" sz="2400" b="0" i="1" u="none" spc="34" strike="noStrike">
                <a:solidFill>
                  <a:schemeClr val="dk1"/>
                </a:solidFill>
                <a:effectLst/>
                <a:uFillTx/>
                <a:latin typeface="Arial"/>
              </a:rPr>
              <a:t>setup()</a:t>
            </a:r>
            <a:r>
              <a:rPr lang="pt-BR" sz="2300" b="0" u="none" spc="34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pt-BR" sz="2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78800" lvl="1" indent="-228600" algn="l">
              <a:lnSpc>
                <a:spcPct val="100000"/>
              </a:lnSpc>
              <a:spcBef>
                <a:spcPts val="40"/>
              </a:spcBef>
              <a:buClr>
                <a:srgbClr val="DA1F28"/>
              </a:buClr>
              <a:buFont typeface="Wingdings"/>
              <a:buChar char="l"/>
              <a:tabLst>
                <a:tab pos="478800" algn="l"/>
                <a:tab pos="479520" algn="l"/>
              </a:tabLst>
            </a:pPr>
            <a:r>
              <a:rPr lang="pt-BR" sz="2100" b="0" u="none" spc="85" strike="noStrike">
                <a:solidFill>
                  <a:srgbClr val="FF0000"/>
                </a:solidFill>
                <a:effectLst/>
                <a:uFillTx/>
                <a:latin typeface="Arial"/>
              </a:rPr>
              <a:t>pinMode</a:t>
            </a:r>
            <a:r>
              <a:rPr lang="pt-BR" sz="2200" b="0" i="1" u="none" spc="85" strike="noStrike">
                <a:solidFill>
                  <a:srgbClr val="000000"/>
                </a:solidFill>
                <a:effectLst/>
                <a:uFillTx/>
                <a:latin typeface="Arial"/>
              </a:rPr>
              <a:t>(pin,</a:t>
            </a:r>
            <a:r>
              <a:rPr lang="pt-BR" sz="2200" b="0" i="1" u="none" spc="60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pt-BR" sz="2200" b="0" i="1" u="none" spc="-96" strike="noStrike">
                <a:solidFill>
                  <a:srgbClr val="000000"/>
                </a:solidFill>
                <a:effectLst/>
                <a:uFillTx/>
                <a:latin typeface="Arial"/>
              </a:rPr>
              <a:t>INPUT)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78800" lvl="1" indent="-228600" algn="l">
              <a:lnSpc>
                <a:spcPts val="2580"/>
              </a:lnSpc>
              <a:spcBef>
                <a:spcPts val="40"/>
              </a:spcBef>
              <a:buClr>
                <a:srgbClr val="DA1F28"/>
              </a:buClr>
              <a:buFont typeface="Wingdings"/>
              <a:buChar char="l"/>
              <a:tabLst>
                <a:tab pos="478800" algn="l"/>
                <a:tab pos="479520" algn="l"/>
              </a:tabLst>
            </a:pPr>
            <a:r>
              <a:rPr lang="pt-BR" sz="2100" b="0" u="none" spc="91" strike="noStrike">
                <a:solidFill>
                  <a:srgbClr val="FF0000"/>
                </a:solidFill>
                <a:effectLst/>
                <a:uFillTx/>
                <a:latin typeface="Arial"/>
              </a:rPr>
              <a:t>digitalWrite</a:t>
            </a:r>
            <a:r>
              <a:rPr lang="pt-BR" sz="2100" b="0" u="none" spc="91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pt-BR" sz="2200" b="0" i="1" u="none" spc="91" strike="noStrike">
                <a:solidFill>
                  <a:srgbClr val="000000"/>
                </a:solidFill>
                <a:effectLst/>
                <a:uFillTx/>
                <a:latin typeface="Arial"/>
              </a:rPr>
              <a:t>pin,</a:t>
            </a:r>
            <a:r>
              <a:rPr lang="pt-BR" sz="2200" b="0" i="1" u="none" spc="7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pt-BR" sz="2200" b="0" i="1" u="none" spc="-65" strike="noStrike">
                <a:solidFill>
                  <a:srgbClr val="000000"/>
                </a:solidFill>
                <a:effectLst/>
                <a:uFillTx/>
                <a:latin typeface="Arial"/>
              </a:rPr>
              <a:t>HIGH</a:t>
            </a:r>
            <a:r>
              <a:rPr lang="pt-BR" sz="2100" b="0" u="none" spc="-65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pt-BR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41200" indent="-228600" algn="just">
              <a:lnSpc>
                <a:spcPts val="2480"/>
              </a:lnSpc>
              <a:spcBef>
                <a:spcPts val="354"/>
              </a:spcBef>
              <a:buClr>
                <a:srgbClr val="2CA1BE"/>
              </a:buClr>
              <a:buFont typeface="Verdana"/>
              <a:buChar char="◦"/>
              <a:tabLst>
                <a:tab pos="241200" algn="l"/>
              </a:tabLst>
            </a:pPr>
            <a:r>
              <a:rPr lang="pt-BR" sz="2300" b="0" u="none" spc="-26" strike="noStrike">
                <a:solidFill>
                  <a:schemeClr val="dk1"/>
                </a:solidFill>
                <a:effectLst/>
                <a:uFillTx/>
                <a:latin typeface="Arial"/>
              </a:rPr>
              <a:t>Para </a:t>
            </a:r>
            <a:r>
              <a:rPr lang="pt-BR" sz="2300" b="0" u="none" spc="79" strike="noStrike">
                <a:solidFill>
                  <a:srgbClr val="FF0000"/>
                </a:solidFill>
                <a:effectLst/>
                <a:uFillTx/>
                <a:latin typeface="Arial"/>
              </a:rPr>
              <a:t>desativar </a:t>
            </a:r>
            <a:r>
              <a:rPr lang="pt-BR" sz="2300" b="0" u="none" spc="79" strike="noStrike">
                <a:solidFill>
                  <a:schemeClr val="dk1"/>
                </a:solidFill>
                <a:effectLst/>
                <a:uFillTx/>
                <a:latin typeface="Arial"/>
              </a:rPr>
              <a:t>os </a:t>
            </a:r>
            <a:r>
              <a:rPr lang="pt-BR" sz="2300" b="0" u="none" spc="91" strike="noStrike">
                <a:solidFill>
                  <a:schemeClr val="dk1"/>
                </a:solidFill>
                <a:effectLst/>
                <a:uFillTx/>
                <a:latin typeface="Arial"/>
              </a:rPr>
              <a:t>resistores </a:t>
            </a:r>
            <a:r>
              <a:rPr lang="pt-BR" sz="2400" b="0" i="1" u="none" spc="164" strike="noStrike">
                <a:solidFill>
                  <a:srgbClr val="FF0000"/>
                </a:solidFill>
                <a:effectLst/>
                <a:uFillTx/>
                <a:latin typeface="Arial"/>
              </a:rPr>
              <a:t>pull-up </a:t>
            </a:r>
            <a:r>
              <a:rPr lang="pt-BR" sz="2300" b="0" u="none" spc="85" strike="noStrike">
                <a:solidFill>
                  <a:schemeClr val="dk1"/>
                </a:solidFill>
                <a:effectLst/>
                <a:uFillTx/>
                <a:latin typeface="Arial"/>
              </a:rPr>
              <a:t>de </a:t>
            </a:r>
            <a:r>
              <a:rPr lang="pt-BR" sz="2300" b="0" u="none" spc="119" strike="noStrike">
                <a:solidFill>
                  <a:schemeClr val="dk1"/>
                </a:solidFill>
                <a:effectLst/>
                <a:uFillTx/>
                <a:latin typeface="Arial"/>
              </a:rPr>
              <a:t>uma  </a:t>
            </a:r>
            <a:r>
              <a:rPr lang="pt-BR" sz="2300" b="0" u="none" spc="136" strike="noStrike">
                <a:solidFill>
                  <a:schemeClr val="dk1"/>
                </a:solidFill>
                <a:effectLst/>
                <a:uFillTx/>
                <a:latin typeface="Arial"/>
              </a:rPr>
              <a:t>porta </a:t>
            </a:r>
            <a:r>
              <a:rPr lang="pt-BR" sz="2300" b="0" u="none" spc="139" strike="noStrike">
                <a:solidFill>
                  <a:schemeClr val="dk1"/>
                </a:solidFill>
                <a:effectLst/>
                <a:uFillTx/>
                <a:latin typeface="Arial"/>
              </a:rPr>
              <a:t>digital </a:t>
            </a:r>
            <a:r>
              <a:rPr lang="pt-BR" sz="2300" b="0" u="none" spc="74" strike="noStrike">
                <a:solidFill>
                  <a:srgbClr val="FF0000"/>
                </a:solidFill>
                <a:effectLst/>
                <a:uFillTx/>
                <a:latin typeface="Arial"/>
              </a:rPr>
              <a:t>basta </a:t>
            </a:r>
            <a:r>
              <a:rPr lang="pt-BR" sz="2300" b="0" u="none" spc="130" strike="noStrike">
                <a:solidFill>
                  <a:srgbClr val="FF0000"/>
                </a:solidFill>
                <a:effectLst/>
                <a:uFillTx/>
                <a:latin typeface="Arial"/>
              </a:rPr>
              <a:t>colocá-la </a:t>
            </a:r>
            <a:r>
              <a:rPr lang="pt-BR" sz="2300" b="0" u="none" spc="113" strike="noStrike">
                <a:solidFill>
                  <a:srgbClr val="FF0000"/>
                </a:solidFill>
                <a:effectLst/>
                <a:uFillTx/>
                <a:latin typeface="Arial"/>
              </a:rPr>
              <a:t>em </a:t>
            </a:r>
            <a:r>
              <a:rPr lang="pt-BR" sz="2300" b="0" u="none" spc="74" strike="noStrike">
                <a:solidFill>
                  <a:srgbClr val="FF0000"/>
                </a:solidFill>
                <a:effectLst/>
                <a:uFillTx/>
                <a:latin typeface="Arial"/>
              </a:rPr>
              <a:t>nível</a:t>
            </a:r>
            <a:r>
              <a:rPr lang="pt-BR" sz="2300" b="0" u="none" spc="-164" strike="noStrike">
                <a:solidFill>
                  <a:srgbClr val="FF0000"/>
                </a:solidFill>
                <a:effectLst/>
                <a:uFillTx/>
                <a:latin typeface="Arial"/>
              </a:rPr>
              <a:t> </a:t>
            </a:r>
            <a:r>
              <a:rPr lang="pt-BR" sz="2300" b="0" u="none" spc="130" strike="noStrike">
                <a:solidFill>
                  <a:srgbClr val="FF0000"/>
                </a:solidFill>
                <a:effectLst/>
                <a:uFillTx/>
                <a:latin typeface="Arial"/>
              </a:rPr>
              <a:t>baixo</a:t>
            </a:r>
            <a:r>
              <a:rPr lang="pt-BR" sz="2300" b="0" u="none" spc="130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pt-BR" sz="2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78800" lvl="1" indent="-228600" algn="l">
              <a:lnSpc>
                <a:spcPct val="100000"/>
              </a:lnSpc>
              <a:spcBef>
                <a:spcPts val="34"/>
              </a:spcBef>
              <a:buClr>
                <a:srgbClr val="DA1F28"/>
              </a:buClr>
              <a:buFont typeface="Wingdings"/>
              <a:buChar char="l"/>
              <a:tabLst>
                <a:tab pos="478800" algn="l"/>
                <a:tab pos="479520" algn="l"/>
              </a:tabLst>
            </a:pPr>
            <a:r>
              <a:rPr lang="pt-BR" sz="2100" b="0" u="none" spc="91" strike="noStrike">
                <a:solidFill>
                  <a:srgbClr val="FF0000"/>
                </a:solidFill>
                <a:effectLst/>
                <a:uFillTx/>
                <a:latin typeface="Arial"/>
              </a:rPr>
              <a:t>digitalWrite</a:t>
            </a:r>
            <a:r>
              <a:rPr lang="pt-BR" sz="2100" b="0" u="none" spc="91" strike="noStrik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pt-BR" sz="2200" b="0" i="1" u="none" spc="91" strike="noStrike">
                <a:solidFill>
                  <a:srgbClr val="000000"/>
                </a:solidFill>
                <a:effectLst/>
                <a:uFillTx/>
                <a:latin typeface="Arial"/>
              </a:rPr>
              <a:t>pin,</a:t>
            </a:r>
            <a:r>
              <a:rPr lang="pt-BR" sz="2200" b="0" i="1" u="none" spc="7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pt-BR" sz="2200" b="0" i="1" u="none" spc="-125" strike="noStrike">
                <a:solidFill>
                  <a:srgbClr val="000000"/>
                </a:solidFill>
                <a:effectLst/>
                <a:uFillTx/>
                <a:latin typeface="Arial"/>
              </a:rPr>
              <a:t>LOW</a:t>
            </a:r>
            <a:r>
              <a:rPr lang="pt-BR" sz="2100" b="0" u="none" spc="-125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pt-BR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object 5"/>
          <p:cNvSpPr/>
          <p:nvPr/>
        </p:nvSpPr>
        <p:spPr>
          <a:xfrm>
            <a:off x="223920" y="501480"/>
            <a:ext cx="7116840" cy="11379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ftr" idx="35"/>
          </p:nvPr>
        </p:nvSpPr>
        <p:spPr>
          <a:xfrm>
            <a:off x="3733920" y="6540120"/>
            <a:ext cx="4575960" cy="187560"/>
          </a:xfrm>
          <a:prstGeom prst="rect">
            <a:avLst/>
          </a:prstGeom>
          <a:noFill/>
          <a:ln w="0">
            <a:noFill/>
          </a:ln>
        </p:spPr>
        <p:txBody>
          <a:bodyPr lIns="0" tIns="2520" rIns="0" bIns="0" anchor="t">
            <a:sp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ETECZL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– Aulas de Fundamentos Informática-Arduino</a:t>
            </a: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-</a:t>
            </a:r>
            <a:r>
              <a:rPr lang="pt-BR" sz="1200" b="1" u="none" spc="-11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@2019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object 7"/>
          <p:cNvSpPr/>
          <p:nvPr/>
        </p:nvSpPr>
        <p:spPr>
          <a:xfrm>
            <a:off x="8582040" y="6550200"/>
            <a:ext cx="2826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20" rIns="0" bIns="0" anchor="t">
            <a:spAutoFit/>
          </a:bodyPr>
          <a:p>
            <a:pPr marL="25560" defTabSz="914400">
              <a:lnSpc>
                <a:spcPct val="100000"/>
              </a:lnSpc>
              <a:spcBef>
                <a:spcPts val="20"/>
              </a:spcBef>
            </a:pPr>
            <a:fld id="{E15863B7-35B0-421E-8EE6-85E168B16CAF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object 3"/>
          <p:cNvSpPr/>
          <p:nvPr/>
        </p:nvSpPr>
        <p:spPr>
          <a:xfrm>
            <a:off x="2234160" y="2732400"/>
            <a:ext cx="3819240" cy="39715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45840" y="1454040"/>
            <a:ext cx="7016400" cy="773640"/>
          </a:xfrm>
          <a:prstGeom prst="rect">
            <a:avLst/>
          </a:prstGeom>
          <a:noFill/>
          <a:ln w="0">
            <a:noFill/>
          </a:ln>
        </p:spPr>
        <p:txBody>
          <a:bodyPr lIns="0" tIns="41400" rIns="0" bIns="0" anchor="t">
            <a:spAutoFit/>
          </a:bodyPr>
          <a:p>
            <a:pPr marL="268560" indent="-256680" algn="l">
              <a:lnSpc>
                <a:spcPts val="2880"/>
              </a:lnSpc>
              <a:spcBef>
                <a:spcPts val="326"/>
              </a:spcBef>
              <a:buNone/>
              <a:tabLst>
                <a:tab pos="0" algn="l"/>
              </a:tabLst>
            </a:pPr>
            <a:r>
              <a:rPr lang="pt-BR" sz="1600" b="0" u="none" spc="-451" strike="noStrike">
                <a:solidFill>
                  <a:srgbClr val="2CA1BE"/>
                </a:solidFill>
                <a:effectLst/>
                <a:uFillTx/>
                <a:latin typeface="Arial"/>
              </a:rPr>
              <a:t></a:t>
            </a:r>
            <a:r>
              <a:rPr lang="pt-BR" sz="1600" b="0" u="none" spc="-451" strike="noStrike">
                <a:solidFill>
                  <a:srgbClr val="2CA1BE"/>
                </a:solidFill>
                <a:effectLst/>
                <a:uFillTx/>
                <a:latin typeface="Arial"/>
              </a:rPr>
              <a:t>	</a:t>
            </a:r>
            <a:r>
              <a:rPr lang="pt-BR" sz="2400" b="0" u="none" spc="111" strike="noStrike">
                <a:solidFill>
                  <a:srgbClr val="000000"/>
                </a:solidFill>
                <a:effectLst/>
                <a:uFillTx/>
                <a:latin typeface="Arial"/>
              </a:rPr>
              <a:t>Ati</a:t>
            </a:r>
            <a:r>
              <a:rPr lang="pt-BR" sz="2400" b="0" u="none" spc="150" strike="noStrike">
                <a:solidFill>
                  <a:srgbClr val="000000"/>
                </a:solidFill>
                <a:effectLst/>
                <a:uFillTx/>
                <a:latin typeface="Arial"/>
              </a:rPr>
              <a:t>v</a:t>
            </a:r>
            <a:r>
              <a:rPr lang="pt-BR" sz="2400" b="0" u="none" spc="111" strike="noStrike">
                <a:solidFill>
                  <a:srgbClr val="000000"/>
                </a:solidFill>
                <a:effectLst/>
                <a:uFillTx/>
                <a:latin typeface="Arial"/>
              </a:rPr>
              <a:t>and</a:t>
            </a:r>
            <a:r>
              <a:rPr lang="pt-BR" sz="2400" b="0" u="none" spc="113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pt-BR" sz="2400" b="0" u="none" spc="136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pt-BR" sz="2400" b="0" u="none" spc="99" strike="noStrike">
                <a:solidFill>
                  <a:srgbClr val="000000"/>
                </a:solidFill>
                <a:effectLst/>
                <a:uFillTx/>
                <a:latin typeface="Arial"/>
              </a:rPr>
              <a:t>res</a:t>
            </a:r>
            <a:r>
              <a:rPr lang="pt-BR" sz="2400" b="0" u="none" spc="54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pt-BR" sz="2400" b="0" u="none" spc="139" strike="noStrike">
                <a:solidFill>
                  <a:srgbClr val="000000"/>
                </a:solidFill>
                <a:effectLst/>
                <a:uFillTx/>
                <a:latin typeface="Arial"/>
              </a:rPr>
              <a:t>stor</a:t>
            </a: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pt-BR" sz="2500" b="0" i="1" u="none" spc="136" strike="noStrike">
                <a:solidFill>
                  <a:srgbClr val="000000"/>
                </a:solidFill>
                <a:effectLst/>
                <a:uFillTx/>
                <a:latin typeface="Arial"/>
              </a:rPr>
              <a:t>pul</a:t>
            </a:r>
            <a:r>
              <a:rPr lang="pt-BR" sz="2500" b="0" i="1" u="none" spc="74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pt-BR" sz="2500" b="0" i="1" u="none" spc="556" strike="noStrike">
                <a:solidFill>
                  <a:srgbClr val="000000"/>
                </a:solidFill>
                <a:effectLst/>
                <a:uFillTx/>
                <a:latin typeface="Arial"/>
              </a:rPr>
              <a:t>-</a:t>
            </a:r>
            <a:r>
              <a:rPr lang="pt-BR" sz="2500" b="0" i="1" u="none" spc="99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pt-BR" sz="2500" b="0" i="1" u="none" spc="105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pt-BR" sz="25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pt-BR" sz="2400" b="0" u="none" spc="85" strike="noStrike">
                <a:solidFill>
                  <a:srgbClr val="000000"/>
                </a:solidFill>
                <a:effectLst/>
                <a:uFillTx/>
                <a:latin typeface="Arial"/>
              </a:rPr>
              <a:t>de</a:t>
            </a: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pt-BR" sz="2400" b="0" u="none" spc="125" strike="noStrike">
                <a:solidFill>
                  <a:srgbClr val="000000"/>
                </a:solidFill>
                <a:effectLst/>
                <a:uFillTx/>
                <a:latin typeface="Arial"/>
              </a:rPr>
              <a:t>uma</a:t>
            </a: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pt-BR" sz="2400" b="0" u="none" spc="125" strike="noStrike">
                <a:solidFill>
                  <a:srgbClr val="000000"/>
                </a:solidFill>
                <a:effectLst/>
                <a:uFillTx/>
                <a:latin typeface="Arial"/>
              </a:rPr>
              <a:t>porta  </a:t>
            </a:r>
            <a:r>
              <a:rPr lang="pt-BR" sz="2400" b="0" u="none" spc="139" strike="noStrike">
                <a:solidFill>
                  <a:srgbClr val="000000"/>
                </a:solidFill>
                <a:effectLst/>
                <a:uFillTx/>
                <a:latin typeface="Arial"/>
              </a:rPr>
              <a:t>digital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object 5"/>
          <p:cNvSpPr/>
          <p:nvPr/>
        </p:nvSpPr>
        <p:spPr>
          <a:xfrm>
            <a:off x="929520" y="2247840"/>
            <a:ext cx="62798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41200" indent="-228600" defTabSz="91440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Font typeface="Verdana"/>
              <a:buChar char="◦"/>
              <a:tabLst>
                <a:tab pos="240840" algn="l"/>
                <a:tab pos="241200" algn="l"/>
              </a:tabLst>
            </a:pPr>
            <a:r>
              <a:rPr lang="pt-BR" sz="2000" b="0" u="none" spc="85" strike="noStrike">
                <a:solidFill>
                  <a:srgbClr val="FF0000"/>
                </a:solidFill>
                <a:effectLst/>
                <a:uFillTx/>
                <a:latin typeface="Arial"/>
              </a:rPr>
              <a:t>Quando </a:t>
            </a:r>
            <a:r>
              <a:rPr lang="pt-BR" sz="2000" b="0" u="none" spc="119" strike="noStrike">
                <a:solidFill>
                  <a:srgbClr val="FF0000"/>
                </a:solidFill>
                <a:effectLst/>
                <a:uFillTx/>
                <a:latin typeface="Arial"/>
              </a:rPr>
              <a:t>o </a:t>
            </a:r>
            <a:r>
              <a:rPr lang="pt-BR" sz="2000" b="0" u="none" spc="111" strike="noStrike">
                <a:solidFill>
                  <a:srgbClr val="FF0000"/>
                </a:solidFill>
                <a:effectLst/>
                <a:uFillTx/>
                <a:latin typeface="Arial"/>
              </a:rPr>
              <a:t>botão </a:t>
            </a:r>
            <a:r>
              <a:rPr lang="pt-BR" sz="2000" b="0" u="none" spc="145" strike="noStrike">
                <a:solidFill>
                  <a:srgbClr val="FF0000"/>
                </a:solidFill>
                <a:effectLst/>
                <a:uFillTx/>
                <a:latin typeface="Arial"/>
              </a:rPr>
              <a:t>for </a:t>
            </a:r>
            <a:r>
              <a:rPr lang="pt-BR" sz="2000" b="0" u="none" spc="85" strike="noStrike">
                <a:solidFill>
                  <a:srgbClr val="FF0000"/>
                </a:solidFill>
                <a:effectLst/>
                <a:uFillTx/>
                <a:latin typeface="Arial"/>
              </a:rPr>
              <a:t>pressionado </a:t>
            </a:r>
            <a:r>
              <a:rPr lang="pt-BR" sz="2000" b="0" u="none" spc="119" strike="noStrike">
                <a:solidFill>
                  <a:srgbClr val="FF0000"/>
                </a:solidFill>
                <a:effectLst/>
                <a:uFillTx/>
                <a:latin typeface="Arial"/>
              </a:rPr>
              <a:t>o </a:t>
            </a:r>
            <a:r>
              <a:rPr lang="pt-BR" sz="2000" b="0" u="none" spc="91" strike="noStrike">
                <a:solidFill>
                  <a:srgbClr val="FF0000"/>
                </a:solidFill>
                <a:effectLst/>
                <a:uFillTx/>
                <a:latin typeface="Arial"/>
              </a:rPr>
              <a:t>led irá</a:t>
            </a:r>
            <a:r>
              <a:rPr lang="pt-BR" sz="2000" b="0" u="none" spc="-275" strike="noStrike">
                <a:solidFill>
                  <a:srgbClr val="FF0000"/>
                </a:solidFill>
                <a:effectLst/>
                <a:uFillTx/>
                <a:latin typeface="Arial"/>
              </a:rPr>
              <a:t> </a:t>
            </a:r>
            <a:r>
              <a:rPr lang="pt-BR" sz="2000" b="0" u="none" spc="65" strike="noStrike">
                <a:solidFill>
                  <a:srgbClr val="FF0000"/>
                </a:solidFill>
                <a:effectLst/>
                <a:uFillTx/>
                <a:latin typeface="Arial"/>
              </a:rPr>
              <a:t>apagar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object 6"/>
          <p:cNvSpPr/>
          <p:nvPr/>
        </p:nvSpPr>
        <p:spPr>
          <a:xfrm>
            <a:off x="223920" y="501480"/>
            <a:ext cx="7116840" cy="11379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ftr" idx="36"/>
          </p:nvPr>
        </p:nvSpPr>
        <p:spPr>
          <a:xfrm>
            <a:off x="3733920" y="6540120"/>
            <a:ext cx="4575960" cy="187560"/>
          </a:xfrm>
          <a:prstGeom prst="rect">
            <a:avLst/>
          </a:prstGeom>
          <a:noFill/>
          <a:ln w="0">
            <a:noFill/>
          </a:ln>
        </p:spPr>
        <p:txBody>
          <a:bodyPr lIns="0" tIns="2520" rIns="0" bIns="0" anchor="t">
            <a:sp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ETECZL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– Aulas de Fundamentos Informática-Arduino</a:t>
            </a: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-</a:t>
            </a:r>
            <a:r>
              <a:rPr lang="pt-BR" sz="1200" b="1" u="none" spc="-11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@2019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object 8"/>
          <p:cNvSpPr/>
          <p:nvPr/>
        </p:nvSpPr>
        <p:spPr>
          <a:xfrm>
            <a:off x="8610480" y="6540120"/>
            <a:ext cx="3362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20" rIns="0" bIns="0" anchor="t">
            <a:spAutoFit/>
          </a:bodyPr>
          <a:p>
            <a:pPr marL="25560" defTabSz="914400">
              <a:lnSpc>
                <a:spcPct val="100000"/>
              </a:lnSpc>
              <a:spcBef>
                <a:spcPts val="20"/>
              </a:spcBef>
            </a:pPr>
            <a:fld id="{6537CF9C-F7CE-46C8-BD25-1A20448D2B84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45840" y="1454040"/>
            <a:ext cx="7016400" cy="773640"/>
          </a:xfrm>
          <a:prstGeom prst="rect">
            <a:avLst/>
          </a:prstGeom>
          <a:noFill/>
          <a:ln w="0">
            <a:noFill/>
          </a:ln>
        </p:spPr>
        <p:txBody>
          <a:bodyPr lIns="0" tIns="41400" rIns="0" bIns="0" anchor="t">
            <a:spAutoFit/>
          </a:bodyPr>
          <a:p>
            <a:pPr marL="268560" indent="-256680" algn="l">
              <a:lnSpc>
                <a:spcPts val="2880"/>
              </a:lnSpc>
              <a:spcBef>
                <a:spcPts val="326"/>
              </a:spcBef>
              <a:buNone/>
              <a:tabLst>
                <a:tab pos="0" algn="l"/>
              </a:tabLst>
            </a:pPr>
            <a:r>
              <a:rPr lang="pt-BR" sz="1600" b="0" u="none" spc="-451" strike="noStrike">
                <a:solidFill>
                  <a:srgbClr val="2CA1BE"/>
                </a:solidFill>
                <a:effectLst/>
                <a:uFillTx/>
                <a:latin typeface="Arial"/>
              </a:rPr>
              <a:t></a:t>
            </a:r>
            <a:r>
              <a:rPr lang="pt-BR" sz="1600" b="0" u="none" spc="-451" strike="noStrike">
                <a:solidFill>
                  <a:srgbClr val="2CA1BE"/>
                </a:solidFill>
                <a:effectLst/>
                <a:uFillTx/>
                <a:latin typeface="Arial"/>
              </a:rPr>
              <a:t>	</a:t>
            </a:r>
            <a:r>
              <a:rPr lang="pt-BR" sz="2400" b="0" u="none" spc="111" strike="noStrike">
                <a:solidFill>
                  <a:srgbClr val="000000"/>
                </a:solidFill>
                <a:effectLst/>
                <a:uFillTx/>
                <a:latin typeface="Arial"/>
              </a:rPr>
              <a:t>Ati</a:t>
            </a:r>
            <a:r>
              <a:rPr lang="pt-BR" sz="2400" b="0" u="none" spc="150" strike="noStrike">
                <a:solidFill>
                  <a:srgbClr val="000000"/>
                </a:solidFill>
                <a:effectLst/>
                <a:uFillTx/>
                <a:latin typeface="Arial"/>
              </a:rPr>
              <a:t>v</a:t>
            </a:r>
            <a:r>
              <a:rPr lang="pt-BR" sz="2400" b="0" u="none" spc="111" strike="noStrike">
                <a:solidFill>
                  <a:srgbClr val="000000"/>
                </a:solidFill>
                <a:effectLst/>
                <a:uFillTx/>
                <a:latin typeface="Arial"/>
              </a:rPr>
              <a:t>and</a:t>
            </a:r>
            <a:r>
              <a:rPr lang="pt-BR" sz="2400" b="0" u="none" spc="113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pt-BR" sz="2400" b="0" u="none" spc="136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pt-BR" sz="2400" b="0" u="none" spc="99" strike="noStrike">
                <a:solidFill>
                  <a:srgbClr val="000000"/>
                </a:solidFill>
                <a:effectLst/>
                <a:uFillTx/>
                <a:latin typeface="Arial"/>
              </a:rPr>
              <a:t>res</a:t>
            </a:r>
            <a:r>
              <a:rPr lang="pt-BR" sz="2400" b="0" u="none" spc="54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pt-BR" sz="2400" b="0" u="none" spc="139" strike="noStrike">
                <a:solidFill>
                  <a:srgbClr val="000000"/>
                </a:solidFill>
                <a:effectLst/>
                <a:uFillTx/>
                <a:latin typeface="Arial"/>
              </a:rPr>
              <a:t>stor</a:t>
            </a: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pt-BR" sz="2500" b="0" i="1" u="none" spc="136" strike="noStrike">
                <a:solidFill>
                  <a:srgbClr val="000000"/>
                </a:solidFill>
                <a:effectLst/>
                <a:uFillTx/>
                <a:latin typeface="Arial"/>
              </a:rPr>
              <a:t>pul</a:t>
            </a:r>
            <a:r>
              <a:rPr lang="pt-BR" sz="2500" b="0" i="1" u="none" spc="74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pt-BR" sz="2500" b="0" i="1" u="none" spc="556" strike="noStrike">
                <a:solidFill>
                  <a:srgbClr val="000000"/>
                </a:solidFill>
                <a:effectLst/>
                <a:uFillTx/>
                <a:latin typeface="Arial"/>
              </a:rPr>
              <a:t>-</a:t>
            </a:r>
            <a:r>
              <a:rPr lang="pt-BR" sz="2500" b="0" i="1" u="none" spc="99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pt-BR" sz="2500" b="0" i="1" u="none" spc="105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pt-BR" sz="25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pt-BR" sz="2400" b="0" u="none" spc="85" strike="noStrike">
                <a:solidFill>
                  <a:srgbClr val="000000"/>
                </a:solidFill>
                <a:effectLst/>
                <a:uFillTx/>
                <a:latin typeface="Arial"/>
              </a:rPr>
              <a:t>de</a:t>
            </a: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pt-BR" sz="2400" b="0" u="none" spc="125" strike="noStrike">
                <a:solidFill>
                  <a:srgbClr val="000000"/>
                </a:solidFill>
                <a:effectLst/>
                <a:uFillTx/>
                <a:latin typeface="Arial"/>
              </a:rPr>
              <a:t>uma</a:t>
            </a: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pt-BR" sz="2400" b="0" u="none" spc="125" strike="noStrike">
                <a:solidFill>
                  <a:srgbClr val="000000"/>
                </a:solidFill>
                <a:effectLst/>
                <a:uFillTx/>
                <a:latin typeface="Arial"/>
              </a:rPr>
              <a:t>porta  </a:t>
            </a:r>
            <a:r>
              <a:rPr lang="pt-BR" sz="2400" b="0" u="none" spc="139" strike="noStrike">
                <a:solidFill>
                  <a:srgbClr val="000000"/>
                </a:solidFill>
                <a:effectLst/>
                <a:uFillTx/>
                <a:latin typeface="Arial"/>
              </a:rPr>
              <a:t>digital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object 4"/>
          <p:cNvSpPr/>
          <p:nvPr/>
        </p:nvSpPr>
        <p:spPr>
          <a:xfrm>
            <a:off x="929520" y="2247840"/>
            <a:ext cx="62798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41200" indent="-228600" defTabSz="91440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Font typeface="Verdana"/>
              <a:buChar char="◦"/>
              <a:tabLst>
                <a:tab pos="240840" algn="l"/>
                <a:tab pos="241200" algn="l"/>
              </a:tabLst>
            </a:pPr>
            <a:r>
              <a:rPr lang="pt-BR" sz="2000" b="0" u="none" spc="85" strike="noStrike">
                <a:solidFill>
                  <a:srgbClr val="FF0000"/>
                </a:solidFill>
                <a:effectLst/>
                <a:uFillTx/>
                <a:latin typeface="Arial"/>
              </a:rPr>
              <a:t>Quando </a:t>
            </a:r>
            <a:r>
              <a:rPr lang="pt-BR" sz="2000" b="0" u="none" spc="119" strike="noStrike">
                <a:solidFill>
                  <a:srgbClr val="FF0000"/>
                </a:solidFill>
                <a:effectLst/>
                <a:uFillTx/>
                <a:latin typeface="Arial"/>
              </a:rPr>
              <a:t>o </a:t>
            </a:r>
            <a:r>
              <a:rPr lang="pt-BR" sz="2000" b="0" u="none" spc="111" strike="noStrike">
                <a:solidFill>
                  <a:srgbClr val="FF0000"/>
                </a:solidFill>
                <a:effectLst/>
                <a:uFillTx/>
                <a:latin typeface="Arial"/>
              </a:rPr>
              <a:t>botão </a:t>
            </a:r>
            <a:r>
              <a:rPr lang="pt-BR" sz="2000" b="0" u="none" spc="145" strike="noStrike">
                <a:solidFill>
                  <a:srgbClr val="FF0000"/>
                </a:solidFill>
                <a:effectLst/>
                <a:uFillTx/>
                <a:latin typeface="Arial"/>
              </a:rPr>
              <a:t>for </a:t>
            </a:r>
            <a:r>
              <a:rPr lang="pt-BR" sz="2000" b="0" u="none" spc="85" strike="noStrike">
                <a:solidFill>
                  <a:srgbClr val="FF0000"/>
                </a:solidFill>
                <a:effectLst/>
                <a:uFillTx/>
                <a:latin typeface="Arial"/>
              </a:rPr>
              <a:t>pressionado </a:t>
            </a:r>
            <a:r>
              <a:rPr lang="pt-BR" sz="2000" b="0" u="none" spc="119" strike="noStrike">
                <a:solidFill>
                  <a:srgbClr val="FF0000"/>
                </a:solidFill>
                <a:effectLst/>
                <a:uFillTx/>
                <a:latin typeface="Arial"/>
              </a:rPr>
              <a:t>o </a:t>
            </a:r>
            <a:r>
              <a:rPr lang="pt-BR" sz="2000" b="0" u="none" spc="91" strike="noStrike">
                <a:solidFill>
                  <a:srgbClr val="FF0000"/>
                </a:solidFill>
                <a:effectLst/>
                <a:uFillTx/>
                <a:latin typeface="Arial"/>
              </a:rPr>
              <a:t>led irá</a:t>
            </a:r>
            <a:r>
              <a:rPr lang="pt-BR" sz="2000" b="0" u="none" spc="-275" strike="noStrike">
                <a:solidFill>
                  <a:srgbClr val="FF0000"/>
                </a:solidFill>
                <a:effectLst/>
                <a:uFillTx/>
                <a:latin typeface="Arial"/>
              </a:rPr>
              <a:t> </a:t>
            </a:r>
            <a:r>
              <a:rPr lang="pt-BR" sz="2000" b="0" u="none" spc="65" strike="noStrike">
                <a:solidFill>
                  <a:srgbClr val="FF0000"/>
                </a:solidFill>
                <a:effectLst/>
                <a:uFillTx/>
                <a:latin typeface="Arial"/>
              </a:rPr>
              <a:t>apagar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object 5"/>
          <p:cNvSpPr/>
          <p:nvPr/>
        </p:nvSpPr>
        <p:spPr>
          <a:xfrm>
            <a:off x="223920" y="501480"/>
            <a:ext cx="7116840" cy="11379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object 6"/>
          <p:cNvSpPr/>
          <p:nvPr/>
        </p:nvSpPr>
        <p:spPr>
          <a:xfrm>
            <a:off x="477000" y="2680560"/>
            <a:ext cx="7121160" cy="37288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object 7"/>
          <p:cNvSpPr/>
          <p:nvPr/>
        </p:nvSpPr>
        <p:spPr>
          <a:xfrm>
            <a:off x="611640" y="2781000"/>
            <a:ext cx="6852600" cy="3528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ftr" idx="37"/>
          </p:nvPr>
        </p:nvSpPr>
        <p:spPr>
          <a:xfrm>
            <a:off x="3733920" y="6540120"/>
            <a:ext cx="4575960" cy="187560"/>
          </a:xfrm>
          <a:prstGeom prst="rect">
            <a:avLst/>
          </a:prstGeom>
          <a:noFill/>
          <a:ln w="0">
            <a:noFill/>
          </a:ln>
        </p:spPr>
        <p:txBody>
          <a:bodyPr lIns="0" tIns="2520" rIns="0" bIns="0" anchor="t">
            <a:sp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ETECZL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– Aulas de Fundamentos Informática-Arduino</a:t>
            </a: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-</a:t>
            </a:r>
            <a:r>
              <a:rPr lang="pt-BR" sz="1200" b="1" u="none" spc="-11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@2019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object 9"/>
          <p:cNvSpPr/>
          <p:nvPr/>
        </p:nvSpPr>
        <p:spPr>
          <a:xfrm>
            <a:off x="8610480" y="6540120"/>
            <a:ext cx="3362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20" rIns="0" bIns="0" anchor="t">
            <a:spAutoFit/>
          </a:bodyPr>
          <a:p>
            <a:pPr marL="25560" defTabSz="914400">
              <a:lnSpc>
                <a:spcPct val="100000"/>
              </a:lnSpc>
              <a:spcBef>
                <a:spcPts val="20"/>
              </a:spcBef>
            </a:pPr>
            <a:fld id="{1A3C73AF-B115-49C6-A134-9A362517BCFC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45840" y="1465920"/>
            <a:ext cx="1065960" cy="19173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  <a:tabLst>
                <a:tab pos="268560" algn="l"/>
              </a:tabLst>
            </a:pPr>
            <a:r>
              <a:rPr lang="pt-BR" sz="1800" b="0" u="none" spc="-505" strike="noStrike">
                <a:solidFill>
                  <a:srgbClr val="2CA1BE"/>
                </a:solidFill>
                <a:effectLst/>
                <a:uFillTx/>
                <a:latin typeface="Arial"/>
              </a:rPr>
              <a:t></a:t>
            </a:r>
            <a:r>
              <a:rPr lang="pt-BR" sz="1800" b="0" u="none" spc="-505" strike="noStrike">
                <a:solidFill>
                  <a:srgbClr val="2CA1BE"/>
                </a:solidFill>
                <a:effectLst/>
                <a:uFillTx/>
                <a:latin typeface="Arial"/>
              </a:rPr>
              <a:t>	</a:t>
            </a:r>
            <a:r>
              <a:rPr lang="pt-BR" sz="2700" b="1" u="none" spc="45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pt-BR" sz="2700" b="1" u="none" spc="11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pt-BR" sz="2700" b="1" u="none" spc="113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pt-BR" sz="2700" b="1" u="none" spc="-14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endParaRPr lang="pt-BR" sz="2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object 4"/>
          <p:cNvSpPr/>
          <p:nvPr/>
        </p:nvSpPr>
        <p:spPr>
          <a:xfrm>
            <a:off x="929520" y="1921680"/>
            <a:ext cx="6733800" cy="31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040" rIns="0" bIns="0" anchor="t">
            <a:spAutoFit/>
          </a:bodyPr>
          <a:p>
            <a:pPr marL="241200" indent="-228600" algn="just" defTabSz="914400">
              <a:lnSpc>
                <a:spcPct val="97000"/>
              </a:lnSpc>
              <a:spcBef>
                <a:spcPts val="181"/>
              </a:spcBef>
              <a:buClr>
                <a:srgbClr val="2CA1BE"/>
              </a:buClr>
              <a:buFont typeface="Verdana"/>
              <a:buChar char="◦"/>
              <a:tabLst>
                <a:tab pos="241200" algn="l"/>
              </a:tabLst>
            </a:pP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 </a:t>
            </a:r>
            <a:r>
              <a:rPr lang="pt-BR" sz="2300" b="0" u="none" spc="136" strike="noStrike">
                <a:solidFill>
                  <a:schemeClr val="dk1"/>
                </a:solidFill>
                <a:effectLst/>
                <a:uFillTx/>
                <a:latin typeface="Arial"/>
              </a:rPr>
              <a:t>Arduino </a:t>
            </a:r>
            <a:r>
              <a:rPr lang="pt-BR" sz="2300" b="0" u="none" spc="99" strike="noStrike">
                <a:solidFill>
                  <a:schemeClr val="dk1"/>
                </a:solidFill>
                <a:effectLst/>
                <a:uFillTx/>
                <a:latin typeface="Arial"/>
              </a:rPr>
              <a:t>possui </a:t>
            </a:r>
            <a:r>
              <a:rPr lang="pt-BR" sz="2300" b="0" u="none" spc="119" strike="noStrike">
                <a:solidFill>
                  <a:schemeClr val="dk1"/>
                </a:solidFill>
                <a:effectLst/>
                <a:uFillTx/>
                <a:latin typeface="Arial"/>
              </a:rPr>
              <a:t>uma </a:t>
            </a:r>
            <a:r>
              <a:rPr lang="pt-BR" sz="2300" b="0" u="none" spc="96" strike="noStrike">
                <a:solidFill>
                  <a:schemeClr val="dk1"/>
                </a:solidFill>
                <a:effectLst/>
                <a:uFillTx/>
                <a:latin typeface="Arial"/>
              </a:rPr>
              <a:t>constante </a:t>
            </a:r>
            <a:r>
              <a:rPr lang="pt-BR" sz="2300" b="0" u="none" spc="74" strike="noStrike">
                <a:solidFill>
                  <a:schemeClr val="dk1"/>
                </a:solidFill>
                <a:effectLst/>
                <a:uFillTx/>
                <a:latin typeface="Arial"/>
              </a:rPr>
              <a:t>chamada </a:t>
            </a:r>
            <a:r>
              <a:rPr lang="pt-BR" sz="2300" b="0" u="none" spc="74" strike="noStrike">
                <a:solidFill>
                  <a:srgbClr val="FF0000"/>
                </a:solidFill>
                <a:effectLst/>
                <a:uFillTx/>
                <a:latin typeface="Arial"/>
              </a:rPr>
              <a:t> </a:t>
            </a:r>
            <a:r>
              <a:rPr lang="pt-BR" sz="2400" b="0" i="1" u="none" spc="-159" strike="noStrike">
                <a:solidFill>
                  <a:srgbClr val="FF0000"/>
                </a:solidFill>
                <a:effectLst/>
                <a:uFillTx/>
                <a:latin typeface="Arial"/>
              </a:rPr>
              <a:t>INPUT_PULLUP </a:t>
            </a:r>
            <a:r>
              <a:rPr lang="pt-BR" sz="2300" b="0" u="none" spc="105" strike="noStrike">
                <a:solidFill>
                  <a:schemeClr val="dk1"/>
                </a:solidFill>
                <a:effectLst/>
                <a:uFillTx/>
                <a:latin typeface="Arial"/>
              </a:rPr>
              <a:t>que </a:t>
            </a:r>
            <a:r>
              <a:rPr lang="pt-BR" sz="2300" b="0" u="none" spc="111" strike="noStrike">
                <a:solidFill>
                  <a:schemeClr val="dk1"/>
                </a:solidFill>
                <a:effectLst/>
                <a:uFillTx/>
                <a:latin typeface="Arial"/>
              </a:rPr>
              <a:t>define </a:t>
            </a:r>
            <a:r>
              <a:rPr lang="pt-BR" sz="2300" b="0" u="none" spc="105" strike="noStrike">
                <a:solidFill>
                  <a:schemeClr val="dk1"/>
                </a:solidFill>
                <a:effectLst/>
                <a:uFillTx/>
                <a:latin typeface="Arial"/>
              </a:rPr>
              <a:t>que </a:t>
            </a:r>
            <a:r>
              <a:rPr lang="pt-BR" sz="2300" b="0" u="none" spc="-11" strike="noStrike">
                <a:solidFill>
                  <a:schemeClr val="dk1"/>
                </a:solidFill>
                <a:effectLst/>
                <a:uFillTx/>
                <a:latin typeface="Arial"/>
              </a:rPr>
              <a:t>a </a:t>
            </a:r>
            <a:r>
              <a:rPr lang="pt-BR" sz="2300" b="0" u="none" spc="136" strike="noStrike">
                <a:solidFill>
                  <a:schemeClr val="dk1"/>
                </a:solidFill>
                <a:effectLst/>
                <a:uFillTx/>
                <a:latin typeface="Arial"/>
              </a:rPr>
              <a:t>porta </a:t>
            </a:r>
            <a:r>
              <a:rPr lang="pt-BR" sz="2300" b="0" u="none" spc="45" strike="noStrike">
                <a:solidFill>
                  <a:schemeClr val="dk1"/>
                </a:solidFill>
                <a:effectLst/>
                <a:uFillTx/>
                <a:latin typeface="Arial"/>
              </a:rPr>
              <a:t>será </a:t>
            </a:r>
            <a:r>
              <a:rPr lang="pt-BR" sz="2300" b="0" u="none" spc="85" strike="noStrike">
                <a:solidFill>
                  <a:schemeClr val="dk1"/>
                </a:solidFill>
                <a:effectLst/>
                <a:uFillTx/>
                <a:latin typeface="Arial"/>
              </a:rPr>
              <a:t>de  </a:t>
            </a:r>
            <a:r>
              <a:rPr lang="pt-BR" sz="2300" b="0" u="none" spc="96" strike="noStrike">
                <a:solidFill>
                  <a:schemeClr val="dk1"/>
                </a:solidFill>
                <a:effectLst/>
                <a:uFillTx/>
                <a:latin typeface="Arial"/>
              </a:rPr>
              <a:t>entrada </a:t>
            </a:r>
            <a:r>
              <a:rPr lang="pt-BR" sz="2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 </a:t>
            </a:r>
            <a:r>
              <a:rPr lang="pt-BR" sz="2300" b="0" u="none" spc="136" strike="noStrike">
                <a:solidFill>
                  <a:schemeClr val="dk1"/>
                </a:solidFill>
                <a:effectLst/>
                <a:uFillTx/>
                <a:latin typeface="Arial"/>
              </a:rPr>
              <a:t>o </a:t>
            </a:r>
            <a:r>
              <a:rPr lang="pt-BR" sz="2300" b="0" u="none" spc="111" strike="noStrike">
                <a:solidFill>
                  <a:schemeClr val="dk1"/>
                </a:solidFill>
                <a:effectLst/>
                <a:uFillTx/>
                <a:latin typeface="Arial"/>
              </a:rPr>
              <a:t>resistor </a:t>
            </a:r>
            <a:r>
              <a:rPr lang="pt-BR" sz="2400" b="0" i="1" u="heavy" spc="164" strike="noStrike">
                <a:solidFill>
                  <a:schemeClr val="dk1"/>
                </a:solidFill>
                <a:effectLst/>
                <a:uFill>
                  <a:solidFill>
                    <a:srgbClr val="000000"/>
                  </a:solidFill>
                </a:uFill>
                <a:latin typeface="Arial"/>
              </a:rPr>
              <a:t>pull-up</a:t>
            </a:r>
            <a:r>
              <a:rPr lang="pt-BR" sz="2400" b="0" i="1" u="none" spc="164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pt-BR" sz="2300" b="0" u="none" spc="79" strike="noStrike">
                <a:solidFill>
                  <a:schemeClr val="dk1"/>
                </a:solidFill>
                <a:effectLst/>
                <a:uFillTx/>
                <a:latin typeface="Arial"/>
              </a:rPr>
              <a:t>da </a:t>
            </a:r>
            <a:r>
              <a:rPr lang="pt-BR" sz="2300" b="0" u="none" spc="96" strike="noStrike">
                <a:solidFill>
                  <a:schemeClr val="dk1"/>
                </a:solidFill>
                <a:effectLst/>
                <a:uFillTx/>
                <a:latin typeface="Arial"/>
              </a:rPr>
              <a:t>mesma </a:t>
            </a:r>
            <a:r>
              <a:rPr lang="pt-BR" sz="2300" b="0" u="none" spc="40" strike="noStrike">
                <a:solidFill>
                  <a:schemeClr val="dk1"/>
                </a:solidFill>
                <a:effectLst/>
                <a:uFillTx/>
                <a:latin typeface="Arial"/>
              </a:rPr>
              <a:t>será  </a:t>
            </a:r>
            <a:r>
              <a:rPr lang="pt-BR" sz="2300" b="0" u="none" spc="96" strike="noStrike">
                <a:solidFill>
                  <a:schemeClr val="dk1"/>
                </a:solidFill>
                <a:effectLst/>
                <a:uFillTx/>
                <a:latin typeface="Arial"/>
              </a:rPr>
              <a:t>ativado.</a:t>
            </a:r>
            <a:endParaRPr lang="pt-B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1200" indent="-228600" defTabSz="914400">
              <a:lnSpc>
                <a:spcPct val="100000"/>
              </a:lnSpc>
              <a:spcBef>
                <a:spcPts val="300"/>
              </a:spcBef>
              <a:buClr>
                <a:srgbClr val="2CA1BE"/>
              </a:buClr>
              <a:buFont typeface="Verdana"/>
              <a:buChar char="◦"/>
              <a:tabLst>
                <a:tab pos="241200" algn="l"/>
              </a:tabLst>
            </a:pPr>
            <a:r>
              <a:rPr lang="pt-BR" sz="2300" b="0" u="none" spc="96" strike="noStrike">
                <a:solidFill>
                  <a:srgbClr val="FF0000"/>
                </a:solidFill>
                <a:effectLst/>
                <a:uFillTx/>
                <a:latin typeface="Arial"/>
              </a:rPr>
              <a:t>Exemplo</a:t>
            </a:r>
            <a:r>
              <a:rPr lang="pt-BR" sz="2300" b="0" u="none" spc="96" strike="noStrike">
                <a:solidFill>
                  <a:schemeClr val="dk1"/>
                </a:solidFill>
                <a:effectLst/>
                <a:uFillTx/>
                <a:latin typeface="Arial"/>
              </a:rPr>
              <a:t>:</a:t>
            </a:r>
            <a:endParaRPr lang="pt-B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2120" defTabSz="914400">
              <a:lnSpc>
                <a:spcPct val="100000"/>
              </a:lnSpc>
              <a:spcBef>
                <a:spcPts val="479"/>
              </a:spcBef>
              <a:tabLst>
                <a:tab pos="241200" algn="l"/>
              </a:tabLst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void</a:t>
            </a:r>
            <a:r>
              <a:rPr lang="pt-BR" sz="1800" b="1" u="none" spc="54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setup()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2120" defTabSz="914400">
              <a:lnSpc>
                <a:spcPct val="100000"/>
              </a:lnSpc>
              <a:spcBef>
                <a:spcPts val="394"/>
              </a:spcBef>
              <a:tabLst>
                <a:tab pos="241200" algn="l"/>
              </a:tabLst>
            </a:pPr>
            <a:r>
              <a:rPr lang="pt-BR" sz="1800" b="1" u="none" spc="-119" strike="noStrike">
                <a:solidFill>
                  <a:schemeClr val="dk1"/>
                </a:solidFill>
                <a:effectLst/>
                <a:uFillTx/>
                <a:latin typeface="Arial"/>
              </a:rPr>
              <a:t>{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8640" defTabSz="914400">
              <a:lnSpc>
                <a:spcPct val="100000"/>
              </a:lnSpc>
              <a:spcBef>
                <a:spcPts val="295"/>
              </a:spcBef>
              <a:tabLst>
                <a:tab pos="241200" algn="l"/>
              </a:tabLst>
            </a:pPr>
            <a:r>
              <a:rPr lang="pt-BR" sz="1800" b="1" u="none" spc="31" strike="noStrike">
                <a:solidFill>
                  <a:srgbClr val="FF0000"/>
                </a:solidFill>
                <a:effectLst/>
                <a:uFillTx/>
                <a:latin typeface="Arial"/>
              </a:rPr>
              <a:t>pinMode(</a:t>
            </a:r>
            <a:r>
              <a:rPr lang="pt-BR" sz="1900" b="1" i="1" u="none" spc="31" strike="noStrike">
                <a:solidFill>
                  <a:srgbClr val="FF0000"/>
                </a:solidFill>
                <a:effectLst/>
                <a:uFillTx/>
                <a:latin typeface="Arial"/>
              </a:rPr>
              <a:t>10,</a:t>
            </a:r>
            <a:r>
              <a:rPr lang="pt-BR" sz="1900" b="1" i="1" u="none" spc="6" strike="noStrike">
                <a:solidFill>
                  <a:srgbClr val="FF0000"/>
                </a:solidFill>
                <a:effectLst/>
                <a:uFillTx/>
                <a:latin typeface="Arial"/>
              </a:rPr>
              <a:t> </a:t>
            </a:r>
            <a:r>
              <a:rPr lang="pt-BR" sz="1900" b="1" i="1" u="none" spc="-136" strike="noStrike">
                <a:solidFill>
                  <a:srgbClr val="FF0000"/>
                </a:solidFill>
                <a:effectLst/>
                <a:uFillTx/>
                <a:latin typeface="Arial"/>
              </a:rPr>
              <a:t>INPUT_PULLUP</a:t>
            </a:r>
            <a:r>
              <a:rPr lang="pt-BR" sz="1800" b="1" u="none" spc="-136" strike="noStrike">
                <a:solidFill>
                  <a:srgbClr val="FF0000"/>
                </a:solidFill>
                <a:effectLst/>
                <a:uFillTx/>
                <a:latin typeface="Arial"/>
              </a:rPr>
              <a:t>);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2120" defTabSz="914400">
              <a:lnSpc>
                <a:spcPct val="100000"/>
              </a:lnSpc>
              <a:spcBef>
                <a:spcPts val="391"/>
              </a:spcBef>
              <a:tabLst>
                <a:tab pos="241200" algn="l"/>
              </a:tabLst>
            </a:pPr>
            <a:r>
              <a:rPr lang="pt-BR" sz="1800" b="1" u="none" spc="-119" strike="noStrike">
                <a:solidFill>
                  <a:schemeClr val="dk1"/>
                </a:solidFill>
                <a:effectLst/>
                <a:uFillTx/>
                <a:latin typeface="Arial"/>
              </a:rPr>
              <a:t>}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object 5"/>
          <p:cNvSpPr/>
          <p:nvPr/>
        </p:nvSpPr>
        <p:spPr>
          <a:xfrm>
            <a:off x="4884480" y="5280480"/>
            <a:ext cx="2924280" cy="8362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object 6"/>
          <p:cNvSpPr/>
          <p:nvPr/>
        </p:nvSpPr>
        <p:spPr>
          <a:xfrm>
            <a:off x="4908960" y="5418000"/>
            <a:ext cx="2919600" cy="609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object 7"/>
          <p:cNvSpPr/>
          <p:nvPr/>
        </p:nvSpPr>
        <p:spPr>
          <a:xfrm>
            <a:off x="4942440" y="5301360"/>
            <a:ext cx="2808000" cy="71964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object 8"/>
          <p:cNvSpPr/>
          <p:nvPr/>
        </p:nvSpPr>
        <p:spPr>
          <a:xfrm>
            <a:off x="4942440" y="5301360"/>
            <a:ext cx="2808360" cy="719640"/>
          </a:xfrm>
          <a:custGeom>
            <a:avLst/>
            <a:gdLst>
              <a:gd name="textAreaLeft" fmla="*/ 0 w 2808360"/>
              <a:gd name="textAreaRight" fmla="*/ 2808720 w 2808360"/>
              <a:gd name="textAreaTop" fmla="*/ 0 h 719640"/>
              <a:gd name="textAreaBottom" fmla="*/ 720000 h 719640"/>
            </a:gdLst>
            <a:ahLst/>
            <a:cxnLst/>
            <a:rect l="textAreaLeft" t="textAreaTop" r="textAreaRight" b="textAreaBottom"/>
            <a:pathLst>
              <a:path w="2808604" h="720089">
                <a:moveTo>
                  <a:pt x="0" y="720077"/>
                </a:moveTo>
                <a:lnTo>
                  <a:pt x="2808350" y="720077"/>
                </a:lnTo>
                <a:lnTo>
                  <a:pt x="2808350" y="0"/>
                </a:lnTo>
                <a:lnTo>
                  <a:pt x="0" y="0"/>
                </a:lnTo>
                <a:lnTo>
                  <a:pt x="0" y="720077"/>
                </a:lnTo>
                <a:close/>
              </a:path>
            </a:pathLst>
          </a:custGeom>
          <a:noFill/>
          <a:ln w="9525">
            <a:solidFill>
              <a:srgbClr val="DA1F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object 9"/>
          <p:cNvSpPr/>
          <p:nvPr/>
        </p:nvSpPr>
        <p:spPr>
          <a:xfrm>
            <a:off x="5042520" y="5445360"/>
            <a:ext cx="260892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16280" indent="-104040" defTabSz="91440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pt-BR" sz="1200" b="0" u="none" spc="51" strike="noStrike">
                <a:solidFill>
                  <a:schemeClr val="dk1"/>
                </a:solidFill>
                <a:effectLst/>
                <a:uFillTx/>
                <a:latin typeface="Arial"/>
              </a:rPr>
              <a:t>Define </a:t>
            </a:r>
            <a:r>
              <a:rPr lang="pt-BR" sz="1200" b="0" u="none" spc="-6" strike="noStrike">
                <a:solidFill>
                  <a:schemeClr val="dk1"/>
                </a:solidFill>
                <a:effectLst/>
                <a:uFillTx/>
                <a:latin typeface="Arial"/>
              </a:rPr>
              <a:t>a </a:t>
            </a:r>
            <a:r>
              <a:rPr lang="pt-BR" sz="1200" b="0" u="none" spc="65" strike="noStrike">
                <a:solidFill>
                  <a:schemeClr val="dk1"/>
                </a:solidFill>
                <a:effectLst/>
                <a:uFillTx/>
                <a:latin typeface="Arial"/>
              </a:rPr>
              <a:t>porta </a:t>
            </a:r>
            <a:r>
              <a:rPr lang="pt-BR" sz="1200" b="0" u="none" spc="85" strike="noStrike">
                <a:solidFill>
                  <a:schemeClr val="dk1"/>
                </a:solidFill>
                <a:effectLst/>
                <a:uFillTx/>
                <a:latin typeface="Arial"/>
              </a:rPr>
              <a:t>10 </a:t>
            </a:r>
            <a:r>
              <a:rPr lang="pt-BR" sz="1200" b="0" u="none" spc="65" strike="noStrike">
                <a:solidFill>
                  <a:schemeClr val="dk1"/>
                </a:solidFill>
                <a:effectLst/>
                <a:uFillTx/>
                <a:latin typeface="Arial"/>
              </a:rPr>
              <a:t>como </a:t>
            </a:r>
            <a:r>
              <a:rPr lang="pt-BR" sz="1200" b="0" u="none" spc="45" strike="noStrike">
                <a:solidFill>
                  <a:schemeClr val="dk1"/>
                </a:solidFill>
                <a:effectLst/>
                <a:uFillTx/>
                <a:latin typeface="Arial"/>
              </a:rPr>
              <a:t>entrada</a:t>
            </a:r>
            <a:r>
              <a:rPr lang="pt-BR" sz="1200" b="0" u="none" spc="-65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pt-BR" sz="1200" b="0" u="none" spc="34" strike="noStrike">
                <a:solidFill>
                  <a:schemeClr val="dk1"/>
                </a:solidFill>
                <a:effectLst/>
                <a:uFillTx/>
                <a:latin typeface="Arial"/>
              </a:rPr>
              <a:t>de  </a:t>
            </a:r>
            <a:r>
              <a:rPr lang="pt-BR" sz="1200" b="0" u="none" spc="45" strike="noStrike">
                <a:solidFill>
                  <a:schemeClr val="dk1"/>
                </a:solidFill>
                <a:effectLst/>
                <a:uFillTx/>
                <a:latin typeface="Arial"/>
              </a:rPr>
              <a:t>dados </a:t>
            </a: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 </a:t>
            </a:r>
            <a:r>
              <a:rPr lang="pt-BR" sz="1200" b="0" u="none" spc="34" strike="noStrike">
                <a:solidFill>
                  <a:schemeClr val="dk1"/>
                </a:solidFill>
                <a:effectLst/>
                <a:uFillTx/>
                <a:latin typeface="Arial"/>
              </a:rPr>
              <a:t>ativa </a:t>
            </a:r>
            <a:r>
              <a:rPr lang="pt-BR" sz="1200" b="0" u="none" spc="65" strike="noStrike">
                <a:solidFill>
                  <a:schemeClr val="dk1"/>
                </a:solidFill>
                <a:effectLst/>
                <a:uFillTx/>
                <a:latin typeface="Arial"/>
              </a:rPr>
              <a:t>o </a:t>
            </a:r>
            <a:r>
              <a:rPr lang="pt-BR" sz="1200" b="0" u="none" spc="54" strike="noStrike">
                <a:solidFill>
                  <a:schemeClr val="dk1"/>
                </a:solidFill>
                <a:effectLst/>
                <a:uFillTx/>
                <a:latin typeface="Arial"/>
              </a:rPr>
              <a:t>resistor</a:t>
            </a:r>
            <a:r>
              <a:rPr lang="pt-BR" sz="1200" b="0" u="none" spc="6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pt-BR" sz="1200" b="0" u="none" spc="99" strike="noStrike">
                <a:solidFill>
                  <a:schemeClr val="dk1"/>
                </a:solidFill>
                <a:effectLst/>
                <a:uFillTx/>
                <a:latin typeface="Arial"/>
              </a:rPr>
              <a:t>pull-up.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object 10"/>
          <p:cNvSpPr/>
          <p:nvPr/>
        </p:nvSpPr>
        <p:spPr>
          <a:xfrm>
            <a:off x="2987640" y="4725000"/>
            <a:ext cx="1944000" cy="576360"/>
          </a:xfrm>
          <a:custGeom>
            <a:avLst/>
            <a:gdLst>
              <a:gd name="textAreaLeft" fmla="*/ 0 w 1944000"/>
              <a:gd name="textAreaRight" fmla="*/ 1944360 w 1944000"/>
              <a:gd name="textAreaTop" fmla="*/ 0 h 576360"/>
              <a:gd name="textAreaBottom" fmla="*/ 576720 h 576360"/>
            </a:gdLst>
            <a:ahLst/>
            <a:cxnLst/>
            <a:rect l="textAreaLeft" t="textAreaTop" r="textAreaRight" b="textAreaBottom"/>
            <a:pathLst>
              <a:path w="1944370" h="576579">
                <a:moveTo>
                  <a:pt x="1944243" y="0"/>
                </a:moveTo>
                <a:lnTo>
                  <a:pt x="1942530" y="76545"/>
                </a:lnTo>
                <a:lnTo>
                  <a:pt x="1937695" y="145344"/>
                </a:lnTo>
                <a:lnTo>
                  <a:pt x="1930193" y="203644"/>
                </a:lnTo>
                <a:lnTo>
                  <a:pt x="1920479" y="248694"/>
                </a:lnTo>
                <a:lnTo>
                  <a:pt x="1896237" y="288036"/>
                </a:lnTo>
                <a:lnTo>
                  <a:pt x="1020190" y="288036"/>
                </a:lnTo>
                <a:lnTo>
                  <a:pt x="1007418" y="298321"/>
                </a:lnTo>
                <a:lnTo>
                  <a:pt x="986234" y="372379"/>
                </a:lnTo>
                <a:lnTo>
                  <a:pt x="978732" y="430671"/>
                </a:lnTo>
                <a:lnTo>
                  <a:pt x="973897" y="499482"/>
                </a:lnTo>
                <a:lnTo>
                  <a:pt x="972185" y="576072"/>
                </a:lnTo>
                <a:lnTo>
                  <a:pt x="970463" y="499482"/>
                </a:lnTo>
                <a:lnTo>
                  <a:pt x="965609" y="430671"/>
                </a:lnTo>
                <a:lnTo>
                  <a:pt x="958088" y="372379"/>
                </a:lnTo>
                <a:lnTo>
                  <a:pt x="948365" y="327349"/>
                </a:lnTo>
                <a:lnTo>
                  <a:pt x="924178" y="288036"/>
                </a:lnTo>
                <a:lnTo>
                  <a:pt x="48006" y="288036"/>
                </a:lnTo>
                <a:lnTo>
                  <a:pt x="35233" y="277741"/>
                </a:lnTo>
                <a:lnTo>
                  <a:pt x="23763" y="248694"/>
                </a:lnTo>
                <a:lnTo>
                  <a:pt x="14049" y="203644"/>
                </a:lnTo>
                <a:lnTo>
                  <a:pt x="6547" y="145344"/>
                </a:lnTo>
                <a:lnTo>
                  <a:pt x="1712" y="7654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object 11"/>
          <p:cNvSpPr/>
          <p:nvPr/>
        </p:nvSpPr>
        <p:spPr>
          <a:xfrm>
            <a:off x="3814560" y="4858560"/>
            <a:ext cx="1197360" cy="92016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object 12"/>
          <p:cNvSpPr/>
          <p:nvPr/>
        </p:nvSpPr>
        <p:spPr>
          <a:xfrm>
            <a:off x="4150080" y="5157000"/>
            <a:ext cx="809280" cy="531000"/>
          </a:xfrm>
          <a:custGeom>
            <a:avLst/>
            <a:gdLst>
              <a:gd name="textAreaLeft" fmla="*/ 0 w 809280"/>
              <a:gd name="textAreaRight" fmla="*/ 809640 w 809280"/>
              <a:gd name="textAreaTop" fmla="*/ 0 h 531000"/>
              <a:gd name="textAreaBottom" fmla="*/ 531360 h 531000"/>
            </a:gdLst>
            <a:ahLst/>
            <a:cxnLst/>
            <a:rect l="textAreaLeft" t="textAreaTop" r="textAreaRight" b="textAreaBottom"/>
            <a:pathLst>
              <a:path w="809625" h="531495">
                <a:moveTo>
                  <a:pt x="106194" y="67630"/>
                </a:moveTo>
                <a:lnTo>
                  <a:pt x="135033" y="123568"/>
                </a:lnTo>
                <a:lnTo>
                  <a:pt x="775080" y="530948"/>
                </a:lnTo>
                <a:lnTo>
                  <a:pt x="795527" y="498805"/>
                </a:lnTo>
                <a:lnTo>
                  <a:pt x="118844" y="68118"/>
                </a:lnTo>
                <a:lnTo>
                  <a:pt x="106194" y="67630"/>
                </a:lnTo>
                <a:close/>
              </a:path>
              <a:path w="809625" h="531495">
                <a:moveTo>
                  <a:pt x="143998" y="69089"/>
                </a:moveTo>
                <a:lnTo>
                  <a:pt x="802386" y="488086"/>
                </a:lnTo>
                <a:lnTo>
                  <a:pt x="809243" y="477367"/>
                </a:lnTo>
                <a:lnTo>
                  <a:pt x="169038" y="70056"/>
                </a:lnTo>
                <a:lnTo>
                  <a:pt x="143998" y="69089"/>
                </a:lnTo>
                <a:close/>
              </a:path>
              <a:path w="809625" h="531495">
                <a:moveTo>
                  <a:pt x="0" y="0"/>
                </a:moveTo>
                <a:lnTo>
                  <a:pt x="125983" y="244475"/>
                </a:lnTo>
                <a:lnTo>
                  <a:pt x="133848" y="254277"/>
                </a:lnTo>
                <a:lnTo>
                  <a:pt x="144510" y="260127"/>
                </a:lnTo>
                <a:lnTo>
                  <a:pt x="156577" y="261548"/>
                </a:lnTo>
                <a:lnTo>
                  <a:pt x="168655" y="258064"/>
                </a:lnTo>
                <a:lnTo>
                  <a:pt x="178514" y="250199"/>
                </a:lnTo>
                <a:lnTo>
                  <a:pt x="184372" y="239537"/>
                </a:lnTo>
                <a:lnTo>
                  <a:pt x="185800" y="227470"/>
                </a:lnTo>
                <a:lnTo>
                  <a:pt x="182371" y="215392"/>
                </a:lnTo>
                <a:lnTo>
                  <a:pt x="135033" y="123568"/>
                </a:lnTo>
                <a:lnTo>
                  <a:pt x="36067" y="60579"/>
                </a:lnTo>
                <a:lnTo>
                  <a:pt x="56514" y="28448"/>
                </a:lnTo>
                <a:lnTo>
                  <a:pt x="75451" y="28448"/>
                </a:lnTo>
                <a:lnTo>
                  <a:pt x="76803" y="26327"/>
                </a:lnTo>
                <a:lnTo>
                  <a:pt x="63372" y="17780"/>
                </a:lnTo>
                <a:lnTo>
                  <a:pt x="70103" y="7112"/>
                </a:lnTo>
                <a:lnTo>
                  <a:pt x="183134" y="7112"/>
                </a:lnTo>
                <a:lnTo>
                  <a:pt x="0" y="0"/>
                </a:lnTo>
                <a:close/>
              </a:path>
              <a:path w="809625" h="531495">
                <a:moveTo>
                  <a:pt x="56514" y="28448"/>
                </a:moveTo>
                <a:lnTo>
                  <a:pt x="36067" y="60579"/>
                </a:lnTo>
                <a:lnTo>
                  <a:pt x="135033" y="123568"/>
                </a:lnTo>
                <a:lnTo>
                  <a:pt x="106194" y="67630"/>
                </a:lnTo>
                <a:lnTo>
                  <a:pt x="51815" y="65531"/>
                </a:lnTo>
                <a:lnTo>
                  <a:pt x="69986" y="37022"/>
                </a:lnTo>
                <a:lnTo>
                  <a:pt x="56514" y="28448"/>
                </a:lnTo>
                <a:close/>
              </a:path>
              <a:path w="809625" h="531495">
                <a:moveTo>
                  <a:pt x="183134" y="7112"/>
                </a:moveTo>
                <a:lnTo>
                  <a:pt x="70103" y="7112"/>
                </a:lnTo>
                <a:lnTo>
                  <a:pt x="169038" y="70056"/>
                </a:lnTo>
                <a:lnTo>
                  <a:pt x="272288" y="74041"/>
                </a:lnTo>
                <a:lnTo>
                  <a:pt x="284732" y="72064"/>
                </a:lnTo>
                <a:lnTo>
                  <a:pt x="295068" y="65658"/>
                </a:lnTo>
                <a:lnTo>
                  <a:pt x="302238" y="55824"/>
                </a:lnTo>
                <a:lnTo>
                  <a:pt x="305180" y="43561"/>
                </a:lnTo>
                <a:lnTo>
                  <a:pt x="303204" y="31116"/>
                </a:lnTo>
                <a:lnTo>
                  <a:pt x="296799" y="20780"/>
                </a:lnTo>
                <a:lnTo>
                  <a:pt x="286964" y="13610"/>
                </a:lnTo>
                <a:lnTo>
                  <a:pt x="274700" y="10668"/>
                </a:lnTo>
                <a:lnTo>
                  <a:pt x="183134" y="7112"/>
                </a:lnTo>
                <a:close/>
              </a:path>
              <a:path w="809625" h="531495">
                <a:moveTo>
                  <a:pt x="89267" y="19304"/>
                </a:moveTo>
                <a:lnTo>
                  <a:pt x="81279" y="19304"/>
                </a:lnTo>
                <a:lnTo>
                  <a:pt x="88854" y="33996"/>
                </a:lnTo>
                <a:lnTo>
                  <a:pt x="143998" y="69089"/>
                </a:lnTo>
                <a:lnTo>
                  <a:pt x="169038" y="70056"/>
                </a:lnTo>
                <a:lnTo>
                  <a:pt x="89267" y="19304"/>
                </a:lnTo>
                <a:close/>
              </a:path>
              <a:path w="809625" h="531495">
                <a:moveTo>
                  <a:pt x="88854" y="33996"/>
                </a:moveTo>
                <a:lnTo>
                  <a:pt x="100391" y="56373"/>
                </a:lnTo>
                <a:lnTo>
                  <a:pt x="118844" y="68118"/>
                </a:lnTo>
                <a:lnTo>
                  <a:pt x="143998" y="69089"/>
                </a:lnTo>
                <a:lnTo>
                  <a:pt x="88854" y="33996"/>
                </a:lnTo>
                <a:close/>
              </a:path>
              <a:path w="809625" h="531495">
                <a:moveTo>
                  <a:pt x="100391" y="56373"/>
                </a:moveTo>
                <a:lnTo>
                  <a:pt x="106194" y="67630"/>
                </a:lnTo>
                <a:lnTo>
                  <a:pt x="118844" y="68118"/>
                </a:lnTo>
                <a:lnTo>
                  <a:pt x="100391" y="56373"/>
                </a:lnTo>
                <a:close/>
              </a:path>
              <a:path w="809625" h="531495">
                <a:moveTo>
                  <a:pt x="69986" y="37022"/>
                </a:moveTo>
                <a:lnTo>
                  <a:pt x="51815" y="65531"/>
                </a:lnTo>
                <a:lnTo>
                  <a:pt x="106194" y="67630"/>
                </a:lnTo>
                <a:lnTo>
                  <a:pt x="100391" y="56373"/>
                </a:lnTo>
                <a:lnTo>
                  <a:pt x="69986" y="37022"/>
                </a:lnTo>
                <a:close/>
              </a:path>
              <a:path w="809625" h="531495">
                <a:moveTo>
                  <a:pt x="76803" y="26327"/>
                </a:moveTo>
                <a:lnTo>
                  <a:pt x="69986" y="37022"/>
                </a:lnTo>
                <a:lnTo>
                  <a:pt x="100391" y="56373"/>
                </a:lnTo>
                <a:lnTo>
                  <a:pt x="88854" y="33996"/>
                </a:lnTo>
                <a:lnTo>
                  <a:pt x="76803" y="26327"/>
                </a:lnTo>
                <a:close/>
              </a:path>
              <a:path w="809625" h="531495">
                <a:moveTo>
                  <a:pt x="75451" y="28448"/>
                </a:moveTo>
                <a:lnTo>
                  <a:pt x="56514" y="28448"/>
                </a:lnTo>
                <a:lnTo>
                  <a:pt x="69986" y="37022"/>
                </a:lnTo>
                <a:lnTo>
                  <a:pt x="75451" y="28448"/>
                </a:lnTo>
                <a:close/>
              </a:path>
              <a:path w="809625" h="531495">
                <a:moveTo>
                  <a:pt x="81279" y="19304"/>
                </a:moveTo>
                <a:lnTo>
                  <a:pt x="76803" y="26327"/>
                </a:lnTo>
                <a:lnTo>
                  <a:pt x="88854" y="33996"/>
                </a:lnTo>
                <a:lnTo>
                  <a:pt x="81279" y="19304"/>
                </a:lnTo>
                <a:close/>
              </a:path>
              <a:path w="809625" h="531495">
                <a:moveTo>
                  <a:pt x="70103" y="7112"/>
                </a:moveTo>
                <a:lnTo>
                  <a:pt x="63372" y="17780"/>
                </a:lnTo>
                <a:lnTo>
                  <a:pt x="76803" y="26327"/>
                </a:lnTo>
                <a:lnTo>
                  <a:pt x="81279" y="19304"/>
                </a:lnTo>
                <a:lnTo>
                  <a:pt x="89267" y="19304"/>
                </a:lnTo>
                <a:lnTo>
                  <a:pt x="70103" y="7112"/>
                </a:lnTo>
                <a:close/>
              </a:path>
            </a:pathLst>
          </a:custGeom>
          <a:solidFill>
            <a:srgbClr val="39629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object 13"/>
          <p:cNvSpPr/>
          <p:nvPr/>
        </p:nvSpPr>
        <p:spPr>
          <a:xfrm>
            <a:off x="223920" y="501480"/>
            <a:ext cx="7116840" cy="113796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ftr" idx="38"/>
          </p:nvPr>
        </p:nvSpPr>
        <p:spPr>
          <a:xfrm>
            <a:off x="3733920" y="6540120"/>
            <a:ext cx="4575960" cy="187560"/>
          </a:xfrm>
          <a:prstGeom prst="rect">
            <a:avLst/>
          </a:prstGeom>
          <a:noFill/>
          <a:ln w="0">
            <a:noFill/>
          </a:ln>
        </p:spPr>
        <p:txBody>
          <a:bodyPr lIns="0" tIns="2520" rIns="0" bIns="0" anchor="t">
            <a:spAutoFit/>
          </a:bodyPr>
          <a:lstStyle>
            <a:lvl1pPr marL="1260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1260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ETECZL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– Aulas de Fundamentos Informática-Arduino</a:t>
            </a:r>
            <a:r>
              <a:rPr lang="pt-BR" sz="1200" b="1" u="none" spc="-6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-</a:t>
            </a:r>
            <a:r>
              <a:rPr lang="pt-BR" sz="1200" b="1" u="none" spc="-11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@2019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object 15"/>
          <p:cNvSpPr/>
          <p:nvPr/>
        </p:nvSpPr>
        <p:spPr>
          <a:xfrm>
            <a:off x="8659080" y="6540120"/>
            <a:ext cx="2876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20" rIns="0" bIns="0" anchor="t">
            <a:spAutoFit/>
          </a:bodyPr>
          <a:p>
            <a:pPr marL="25560" defTabSz="914400">
              <a:lnSpc>
                <a:spcPct val="100000"/>
              </a:lnSpc>
              <a:spcBef>
                <a:spcPts val="20"/>
              </a:spcBef>
            </a:pPr>
            <a:fld id="{3DCCFDD2-13E6-4D2E-B92E-FDD15A551285}" type="slidenum"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787680" y="412920"/>
            <a:ext cx="7017120" cy="67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pt-BR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Exercícios de fixação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228600" y="1996920"/>
            <a:ext cx="3962160" cy="387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8584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Construir o diagrama ao lado e desenvolver a programação conforme as instruções a seguir: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8584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Ao apertar o botão os LED devem acender na seguinte sequência: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8584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1º LED amarelo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8584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2° LED verde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8584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3º LED  vermelho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8584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4º LED Azul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8584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Em quanto o botão não for pressionando os LEDs deverão ficar apagados.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8" name="Imagem 3"/>
          <p:cNvPicPr/>
          <p:nvPr/>
        </p:nvPicPr>
        <p:blipFill>
          <a:blip r:embed="rId1"/>
          <a:stretch/>
        </p:blipFill>
        <p:spPr>
          <a:xfrm>
            <a:off x="4191120" y="1996920"/>
            <a:ext cx="4476240" cy="4447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063440" y="196920"/>
            <a:ext cx="7017120" cy="138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pt-BR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1-Exercícios de fixação-Pontuando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1204920" y="1752480"/>
            <a:ext cx="2757240" cy="430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8584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Desenvolver o diagrama ao lado para representar um semáforo.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8584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Ao apertar o botão o LED verde do carro deve apagar e acender o LED amarelo do carro, após apagar o LED amarelo o LED vermelho do carro acende e o LED vermelho do pedestre apaga e acende o LED verde do pedestre o mesmo deve ficar (6000) milissegundo acesso em seguida o LED verde do pedestre deve piscar durante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8584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(2000) milissegundo e apagar, após  o LED verde apaga de acender o LED vermelho do Pedestre e o Led verde do carro.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1" name="Imagem 4"/>
          <p:cNvPicPr/>
          <p:nvPr/>
        </p:nvPicPr>
        <p:blipFill>
          <a:blip r:embed="rId1"/>
          <a:stretch/>
        </p:blipFill>
        <p:spPr>
          <a:xfrm>
            <a:off x="4114800" y="1581120"/>
            <a:ext cx="4704840" cy="369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900000" y="263880"/>
            <a:ext cx="701712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</a:pPr>
            <a:r>
              <a:rPr lang="pt-BR" sz="4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2-Exercícios de fixação-Pontuando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929520" y="1750680"/>
            <a:ext cx="3286080" cy="416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just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Acender os LED´s do projeto ao lado com uma a uma permanecendo acesso até o ultimo LED acender da direita para esquerda, após os LED´s de acender de forma randomico, todo esse processo só pode acontecer após aberta o  botão  e o se  botão for abertado novamente o processo dever parar até que o botão seja abertado pela segunda vez para iniciar o processo novamente. Crie uma função utilizando o código a seguir em seguida chame a função dentro do  void loop(){ ….}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4" name=""/>
          <p:cNvPicPr/>
          <p:nvPr/>
        </p:nvPicPr>
        <p:blipFill>
          <a:blip r:embed="rId1"/>
          <a:stretch/>
        </p:blipFill>
        <p:spPr>
          <a:xfrm>
            <a:off x="4500000" y="1685160"/>
            <a:ext cx="3240000" cy="3354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080000" y="381960"/>
            <a:ext cx="7017120" cy="105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6" name=""/>
          <p:cNvPicPr/>
          <p:nvPr/>
        </p:nvPicPr>
        <p:blipFill>
          <a:blip r:embed="rId1"/>
          <a:stretch/>
        </p:blipFill>
        <p:spPr>
          <a:xfrm>
            <a:off x="2375640" y="1800000"/>
            <a:ext cx="4284360" cy="4119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85800" y="2126160"/>
            <a:ext cx="7772040" cy="123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pt-BR" sz="8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FIM</a:t>
            </a:r>
            <a:endParaRPr lang="pt-BR" sz="8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Retângulo 3"/>
          <p:cNvSpPr/>
          <p:nvPr/>
        </p:nvSpPr>
        <p:spPr>
          <a:xfrm>
            <a:off x="3811680" y="6495120"/>
            <a:ext cx="49525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12600" defTabSz="914400">
              <a:lnSpc>
                <a:spcPct val="100000"/>
              </a:lnSpc>
              <a:spcBef>
                <a:spcPts val="20"/>
              </a:spcBef>
            </a:pPr>
            <a:r>
              <a:rPr lang="pt-BR" sz="1200" b="1" u="none" spc="-6" strike="noStrike">
                <a:solidFill>
                  <a:srgbClr val="002060"/>
                </a:solidFill>
                <a:effectLst/>
                <a:uFillTx/>
                <a:latin typeface="Liberation Sans Narrow"/>
              </a:rPr>
              <a:t>ETECZL </a:t>
            </a:r>
            <a:r>
              <a:rPr lang="pt-BR" sz="1200" b="1" u="none" strike="noStrike">
                <a:solidFill>
                  <a:srgbClr val="002060"/>
                </a:solidFill>
                <a:effectLst/>
                <a:uFillTx/>
                <a:latin typeface="Liberation Sans Narrow"/>
              </a:rPr>
              <a:t>– Aulas de Fundamentos Informática-Arduino</a:t>
            </a:r>
            <a:r>
              <a:rPr lang="pt-BR" sz="1200" b="1" u="none" spc="-6" strike="noStrike">
                <a:solidFill>
                  <a:srgbClr val="002060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2060"/>
                </a:solidFill>
                <a:effectLst/>
                <a:uFillTx/>
                <a:latin typeface="Liberation Sans Narrow"/>
              </a:rPr>
              <a:t>-</a:t>
            </a:r>
            <a:r>
              <a:rPr lang="pt-BR" sz="1200" b="1" u="none" spc="-11" strike="noStrike">
                <a:solidFill>
                  <a:srgbClr val="002060"/>
                </a:solidFill>
                <a:effectLst/>
                <a:uFillTx/>
                <a:latin typeface="Liberation Sans Narrow"/>
              </a:rPr>
              <a:t> </a:t>
            </a:r>
            <a:r>
              <a:rPr lang="pt-BR" sz="1200" b="1" u="none" strike="noStrike">
                <a:solidFill>
                  <a:srgbClr val="002060"/>
                </a:solidFill>
                <a:effectLst/>
                <a:uFillTx/>
                <a:latin typeface="Liberation Sans Narrow"/>
              </a:rPr>
              <a:t>@2019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sldNum" idx="39"/>
          </p:nvPr>
        </p:nvSpPr>
        <p:spPr>
          <a:xfrm>
            <a:off x="8610480" y="6540120"/>
            <a:ext cx="336960" cy="187560"/>
          </a:xfrm>
          <a:prstGeom prst="rect">
            <a:avLst/>
          </a:prstGeom>
          <a:noFill/>
          <a:ln w="0">
            <a:noFill/>
          </a:ln>
        </p:spPr>
        <p:txBody>
          <a:bodyPr lIns="0" tIns="2520" rIns="0" bIns="0" anchor="t">
            <a:spAutoFit/>
          </a:bodyPr>
          <a:lstStyle>
            <a:lvl1pPr marL="25560" indent="0" algn="l" defTabSz="914400">
              <a:lnSpc>
                <a:spcPct val="100000"/>
              </a:lnSpc>
              <a:spcBef>
                <a:spcPts val="20"/>
              </a:spcBef>
              <a:buNone/>
              <a:def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defRPr>
            </a:lvl1pPr>
          </a:lstStyle>
          <a:p>
            <a:pPr marL="25560" indent="0" algn="l" defTabSz="914400">
              <a:lnSpc>
                <a:spcPct val="100000"/>
              </a:lnSpc>
              <a:spcBef>
                <a:spcPts val="20"/>
              </a:spcBef>
              <a:buNone/>
            </a:pPr>
            <a:r>
              <a:rPr lang="pt-BR" sz="1200" b="1" u="none" strike="noStrike">
                <a:solidFill>
                  <a:srgbClr val="001F5F"/>
                </a:solidFill>
                <a:effectLst/>
                <a:uFillTx/>
                <a:latin typeface="Liberation Sans Narrow"/>
              </a:rPr>
              <a:t>155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8118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</TotalTime>
  <Application>LibreOffice/26.2.1.2$Windows_X86_64 LibreOffice_project/620$Build-2</Application>
  <AppVersion>15.0000</AppVersion>
  <Words>565</Words>
  <Paragraphs>71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2018-09-13T18:52:53Z</dcterms:created>
  <dc:creator>Anderson perez</dc:creator>
  <dc:description/>
  <dc:language>pt-BR</dc:language>
  <cp:lastModifiedBy/>
  <dcterms:modified xsi:type="dcterms:W3CDTF">2026-03-22T16:17:37Z</dcterms:modified>
  <cp:revision>15</cp:revision>
  <dc:subject/>
  <dc:title>Oficina de Robótica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2014-05-15T00:00:00Z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2018-09-13T00:00:00Z</vt:filetime>
  </property>
  <property fmtid="{D5CDD505-2E9C-101B-9397-08002B2CF9AE}" pid="5" name="PresentationFormat">
    <vt:lpwstr>Apresentação na tela (4:3)</vt:lpwstr>
  </property>
  <property fmtid="{D5CDD505-2E9C-101B-9397-08002B2CF9AE}" pid="6" name="Slides">
    <vt:i4>13</vt:i4>
  </property>
</Properties>
</file>