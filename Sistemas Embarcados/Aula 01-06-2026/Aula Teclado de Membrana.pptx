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k object 16"/>
          <p:cNvSpPr/>
          <p:nvPr/>
        </p:nvSpPr>
        <p:spPr>
          <a:xfrm>
            <a:off x="499320" y="5945040"/>
            <a:ext cx="4897440" cy="912600"/>
          </a:xfrm>
          <a:custGeom>
            <a:avLst/>
            <a:gdLst>
              <a:gd name="textAreaLeft" fmla="*/ 0 w 4897440"/>
              <a:gd name="textAreaRight" fmla="*/ 4897800 w 4897440"/>
              <a:gd name="textAreaTop" fmla="*/ 0 h 912600"/>
              <a:gd name="textAreaBottom" fmla="*/ 912960 h 912600"/>
            </a:gdLst>
            <a:ahLst/>
            <a:cxnLst/>
            <a:rect l="textAreaLeft" t="textAreaTop" r="textAreaRight" b="textAreaBottom"/>
            <a:pathLst>
              <a:path w="4897755" h="913129">
                <a:moveTo>
                  <a:pt x="85714" y="21358"/>
                </a:moveTo>
                <a:lnTo>
                  <a:pt x="3636693" y="913063"/>
                </a:lnTo>
                <a:lnTo>
                  <a:pt x="4897393" y="913063"/>
                </a:lnTo>
                <a:lnTo>
                  <a:pt x="85714" y="21358"/>
                </a:lnTo>
                <a:close/>
              </a:path>
              <a:path w="4897755" h="913129">
                <a:moveTo>
                  <a:pt x="660" y="0"/>
                </a:moveTo>
                <a:lnTo>
                  <a:pt x="0" y="5473"/>
                </a:lnTo>
                <a:lnTo>
                  <a:pt x="85714" y="21358"/>
                </a:lnTo>
                <a:lnTo>
                  <a:pt x="660" y="0"/>
                </a:lnTo>
                <a:close/>
              </a:path>
            </a:pathLst>
          </a:custGeom>
          <a:solidFill>
            <a:srgbClr val="9FCADC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bk object 17"/>
          <p:cNvSpPr/>
          <p:nvPr/>
        </p:nvSpPr>
        <p:spPr>
          <a:xfrm>
            <a:off x="485640" y="5938920"/>
            <a:ext cx="3651480" cy="919080"/>
          </a:xfrm>
          <a:custGeom>
            <a:avLst/>
            <a:gdLst>
              <a:gd name="textAreaLeft" fmla="*/ 0 w 3651480"/>
              <a:gd name="textAreaRight" fmla="*/ 3651840 w 3651480"/>
              <a:gd name="textAreaTop" fmla="*/ 0 h 919080"/>
              <a:gd name="textAreaBottom" fmla="*/ 919440 h 919080"/>
            </a:gdLst>
            <a:ahLst/>
            <a:cxnLst/>
            <a:rect l="textAreaLeft" t="textAreaTop" r="textAreaRight" b="textAreaBottom"/>
            <a:pathLst>
              <a:path w="3651885" h="919479">
                <a:moveTo>
                  <a:pt x="0" y="0"/>
                </a:moveTo>
                <a:lnTo>
                  <a:pt x="7924" y="6349"/>
                </a:lnTo>
                <a:lnTo>
                  <a:pt x="2868867" y="918982"/>
                </a:lnTo>
                <a:lnTo>
                  <a:pt x="3651882" y="91898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bk object 18"/>
          <p:cNvSpPr/>
          <p:nvPr/>
        </p:nvSpPr>
        <p:spPr>
          <a:xfrm>
            <a:off x="0" y="5789520"/>
            <a:ext cx="3398040" cy="10681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bk object 19"/>
          <p:cNvSpPr/>
          <p:nvPr/>
        </p:nvSpPr>
        <p:spPr>
          <a:xfrm>
            <a:off x="0" y="5784480"/>
            <a:ext cx="3371400" cy="10731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85800" y="2126160"/>
            <a:ext cx="7772040" cy="38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pt-BR" sz="2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2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1"/>
          </p:nvPr>
        </p:nvSpPr>
        <p:spPr>
          <a:xfrm>
            <a:off x="3733920" y="6540120"/>
            <a:ext cx="4575960" cy="18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1260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&lt;rodapé&gt;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2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sldNum" idx="3"/>
          </p:nvPr>
        </p:nvSpPr>
        <p:spPr>
          <a:xfrm>
            <a:off x="8686440" y="6540120"/>
            <a:ext cx="261360" cy="20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556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2556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fld id="{F6848FDE-418C-4FB5-B636-837B21F3B6DC}" type="slidenum"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k object 16"/>
          <p:cNvSpPr/>
          <p:nvPr/>
        </p:nvSpPr>
        <p:spPr>
          <a:xfrm>
            <a:off x="499320" y="5945040"/>
            <a:ext cx="4897440" cy="912600"/>
          </a:xfrm>
          <a:custGeom>
            <a:avLst/>
            <a:gdLst>
              <a:gd name="textAreaLeft" fmla="*/ 0 w 4897440"/>
              <a:gd name="textAreaRight" fmla="*/ 4897800 w 4897440"/>
              <a:gd name="textAreaTop" fmla="*/ 0 h 912600"/>
              <a:gd name="textAreaBottom" fmla="*/ 912960 h 912600"/>
            </a:gdLst>
            <a:ahLst/>
            <a:cxnLst/>
            <a:rect l="textAreaLeft" t="textAreaTop" r="textAreaRight" b="textAreaBottom"/>
            <a:pathLst>
              <a:path w="4897755" h="913129">
                <a:moveTo>
                  <a:pt x="85714" y="21358"/>
                </a:moveTo>
                <a:lnTo>
                  <a:pt x="3636693" y="913063"/>
                </a:lnTo>
                <a:lnTo>
                  <a:pt x="4897393" y="913063"/>
                </a:lnTo>
                <a:lnTo>
                  <a:pt x="85714" y="21358"/>
                </a:lnTo>
                <a:close/>
              </a:path>
              <a:path w="4897755" h="913129">
                <a:moveTo>
                  <a:pt x="660" y="0"/>
                </a:moveTo>
                <a:lnTo>
                  <a:pt x="0" y="5473"/>
                </a:lnTo>
                <a:lnTo>
                  <a:pt x="85714" y="21358"/>
                </a:lnTo>
                <a:lnTo>
                  <a:pt x="660" y="0"/>
                </a:lnTo>
                <a:close/>
              </a:path>
            </a:pathLst>
          </a:custGeom>
          <a:solidFill>
            <a:srgbClr val="9FCADC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bk object 17"/>
          <p:cNvSpPr/>
          <p:nvPr/>
        </p:nvSpPr>
        <p:spPr>
          <a:xfrm>
            <a:off x="485640" y="5938920"/>
            <a:ext cx="3651480" cy="919080"/>
          </a:xfrm>
          <a:custGeom>
            <a:avLst/>
            <a:gdLst>
              <a:gd name="textAreaLeft" fmla="*/ 0 w 3651480"/>
              <a:gd name="textAreaRight" fmla="*/ 3651840 w 3651480"/>
              <a:gd name="textAreaTop" fmla="*/ 0 h 919080"/>
              <a:gd name="textAreaBottom" fmla="*/ 919440 h 919080"/>
            </a:gdLst>
            <a:ahLst/>
            <a:cxnLst/>
            <a:rect l="textAreaLeft" t="textAreaTop" r="textAreaRight" b="textAreaBottom"/>
            <a:pathLst>
              <a:path w="3651885" h="919479">
                <a:moveTo>
                  <a:pt x="0" y="0"/>
                </a:moveTo>
                <a:lnTo>
                  <a:pt x="7924" y="6349"/>
                </a:lnTo>
                <a:lnTo>
                  <a:pt x="2868867" y="918982"/>
                </a:lnTo>
                <a:lnTo>
                  <a:pt x="3651882" y="91898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bk object 18"/>
          <p:cNvSpPr/>
          <p:nvPr/>
        </p:nvSpPr>
        <p:spPr>
          <a:xfrm>
            <a:off x="0" y="5789520"/>
            <a:ext cx="3398040" cy="10681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bk object 19"/>
          <p:cNvSpPr/>
          <p:nvPr/>
        </p:nvSpPr>
        <p:spPr>
          <a:xfrm>
            <a:off x="0" y="5784480"/>
            <a:ext cx="3371400" cy="10731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45840" y="1446120"/>
            <a:ext cx="7017120" cy="1058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pt-BR" sz="2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2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929520" y="1750680"/>
            <a:ext cx="6733800" cy="416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4"/>
          </p:nvPr>
        </p:nvSpPr>
        <p:spPr>
          <a:xfrm>
            <a:off x="3733920" y="6540120"/>
            <a:ext cx="4575960" cy="18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1260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&lt;rodapé&gt;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dt" idx="5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6"/>
          </p:nvPr>
        </p:nvSpPr>
        <p:spPr>
          <a:xfrm>
            <a:off x="8686440" y="6540120"/>
            <a:ext cx="261360" cy="20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556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2556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fld id="{5434820F-2173-40CA-925D-5FE9017BBB1F}" type="slidenum"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k object 16"/>
          <p:cNvSpPr/>
          <p:nvPr/>
        </p:nvSpPr>
        <p:spPr>
          <a:xfrm>
            <a:off x="499320" y="5945040"/>
            <a:ext cx="4897440" cy="912600"/>
          </a:xfrm>
          <a:custGeom>
            <a:avLst/>
            <a:gdLst>
              <a:gd name="textAreaLeft" fmla="*/ 0 w 4897440"/>
              <a:gd name="textAreaRight" fmla="*/ 4897800 w 4897440"/>
              <a:gd name="textAreaTop" fmla="*/ 0 h 912600"/>
              <a:gd name="textAreaBottom" fmla="*/ 912960 h 912600"/>
            </a:gdLst>
            <a:ahLst/>
            <a:cxnLst/>
            <a:rect l="textAreaLeft" t="textAreaTop" r="textAreaRight" b="textAreaBottom"/>
            <a:pathLst>
              <a:path w="4897755" h="913129">
                <a:moveTo>
                  <a:pt x="85714" y="21358"/>
                </a:moveTo>
                <a:lnTo>
                  <a:pt x="3636693" y="913063"/>
                </a:lnTo>
                <a:lnTo>
                  <a:pt x="4897393" y="913063"/>
                </a:lnTo>
                <a:lnTo>
                  <a:pt x="85714" y="21358"/>
                </a:lnTo>
                <a:close/>
              </a:path>
              <a:path w="4897755" h="913129">
                <a:moveTo>
                  <a:pt x="660" y="0"/>
                </a:moveTo>
                <a:lnTo>
                  <a:pt x="0" y="5473"/>
                </a:lnTo>
                <a:lnTo>
                  <a:pt x="85714" y="21358"/>
                </a:lnTo>
                <a:lnTo>
                  <a:pt x="660" y="0"/>
                </a:lnTo>
                <a:close/>
              </a:path>
            </a:pathLst>
          </a:custGeom>
          <a:solidFill>
            <a:srgbClr val="9FCADC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bk object 17"/>
          <p:cNvSpPr/>
          <p:nvPr/>
        </p:nvSpPr>
        <p:spPr>
          <a:xfrm>
            <a:off x="485640" y="5938920"/>
            <a:ext cx="3651480" cy="919080"/>
          </a:xfrm>
          <a:custGeom>
            <a:avLst/>
            <a:gdLst>
              <a:gd name="textAreaLeft" fmla="*/ 0 w 3651480"/>
              <a:gd name="textAreaRight" fmla="*/ 3651840 w 3651480"/>
              <a:gd name="textAreaTop" fmla="*/ 0 h 919080"/>
              <a:gd name="textAreaBottom" fmla="*/ 919440 h 919080"/>
            </a:gdLst>
            <a:ahLst/>
            <a:cxnLst/>
            <a:rect l="textAreaLeft" t="textAreaTop" r="textAreaRight" b="textAreaBottom"/>
            <a:pathLst>
              <a:path w="3651885" h="919479">
                <a:moveTo>
                  <a:pt x="0" y="0"/>
                </a:moveTo>
                <a:lnTo>
                  <a:pt x="7924" y="6349"/>
                </a:lnTo>
                <a:lnTo>
                  <a:pt x="2868867" y="918982"/>
                </a:lnTo>
                <a:lnTo>
                  <a:pt x="3651882" y="91898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bk object 18"/>
          <p:cNvSpPr/>
          <p:nvPr/>
        </p:nvSpPr>
        <p:spPr>
          <a:xfrm>
            <a:off x="0" y="5789520"/>
            <a:ext cx="3398040" cy="10681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bk object 19"/>
          <p:cNvSpPr/>
          <p:nvPr/>
        </p:nvSpPr>
        <p:spPr>
          <a:xfrm>
            <a:off x="0" y="5784480"/>
            <a:ext cx="3371400" cy="10731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45840" y="1446120"/>
            <a:ext cx="7017120" cy="1058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pt-BR" sz="2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2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929520" y="1646640"/>
            <a:ext cx="2835720" cy="16184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709160" y="1577520"/>
            <a:ext cx="3977280" cy="214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7"/>
          </p:nvPr>
        </p:nvSpPr>
        <p:spPr>
          <a:xfrm>
            <a:off x="3733920" y="6540120"/>
            <a:ext cx="4575960" cy="18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1260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&lt;rodapé&gt;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dt" idx="8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9"/>
          </p:nvPr>
        </p:nvSpPr>
        <p:spPr>
          <a:xfrm>
            <a:off x="8686440" y="6540120"/>
            <a:ext cx="261360" cy="20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556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2556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fld id="{1DB1D3D6-3BE5-4CE5-BBD5-9D29E1F90660}" type="slidenum"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k object 16"/>
          <p:cNvSpPr/>
          <p:nvPr/>
        </p:nvSpPr>
        <p:spPr>
          <a:xfrm>
            <a:off x="499320" y="5945040"/>
            <a:ext cx="4897440" cy="912600"/>
          </a:xfrm>
          <a:custGeom>
            <a:avLst/>
            <a:gdLst>
              <a:gd name="textAreaLeft" fmla="*/ 0 w 4897440"/>
              <a:gd name="textAreaRight" fmla="*/ 4897800 w 4897440"/>
              <a:gd name="textAreaTop" fmla="*/ 0 h 912600"/>
              <a:gd name="textAreaBottom" fmla="*/ 912960 h 912600"/>
            </a:gdLst>
            <a:ahLst/>
            <a:cxnLst/>
            <a:rect l="textAreaLeft" t="textAreaTop" r="textAreaRight" b="textAreaBottom"/>
            <a:pathLst>
              <a:path w="4897755" h="913129">
                <a:moveTo>
                  <a:pt x="85714" y="21358"/>
                </a:moveTo>
                <a:lnTo>
                  <a:pt x="3636693" y="913063"/>
                </a:lnTo>
                <a:lnTo>
                  <a:pt x="4897393" y="913063"/>
                </a:lnTo>
                <a:lnTo>
                  <a:pt x="85714" y="21358"/>
                </a:lnTo>
                <a:close/>
              </a:path>
              <a:path w="4897755" h="913129">
                <a:moveTo>
                  <a:pt x="660" y="0"/>
                </a:moveTo>
                <a:lnTo>
                  <a:pt x="0" y="5473"/>
                </a:lnTo>
                <a:lnTo>
                  <a:pt x="85714" y="21358"/>
                </a:lnTo>
                <a:lnTo>
                  <a:pt x="660" y="0"/>
                </a:lnTo>
                <a:close/>
              </a:path>
            </a:pathLst>
          </a:custGeom>
          <a:solidFill>
            <a:srgbClr val="9FCADC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bk object 17"/>
          <p:cNvSpPr/>
          <p:nvPr/>
        </p:nvSpPr>
        <p:spPr>
          <a:xfrm>
            <a:off x="485640" y="5938920"/>
            <a:ext cx="3651480" cy="919080"/>
          </a:xfrm>
          <a:custGeom>
            <a:avLst/>
            <a:gdLst>
              <a:gd name="textAreaLeft" fmla="*/ 0 w 3651480"/>
              <a:gd name="textAreaRight" fmla="*/ 3651840 w 3651480"/>
              <a:gd name="textAreaTop" fmla="*/ 0 h 919080"/>
              <a:gd name="textAreaBottom" fmla="*/ 919440 h 919080"/>
            </a:gdLst>
            <a:ahLst/>
            <a:cxnLst/>
            <a:rect l="textAreaLeft" t="textAreaTop" r="textAreaRight" b="textAreaBottom"/>
            <a:pathLst>
              <a:path w="3651885" h="919479">
                <a:moveTo>
                  <a:pt x="0" y="0"/>
                </a:moveTo>
                <a:lnTo>
                  <a:pt x="7924" y="6349"/>
                </a:lnTo>
                <a:lnTo>
                  <a:pt x="2868867" y="918982"/>
                </a:lnTo>
                <a:lnTo>
                  <a:pt x="3651882" y="91898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bk object 18"/>
          <p:cNvSpPr/>
          <p:nvPr/>
        </p:nvSpPr>
        <p:spPr>
          <a:xfrm>
            <a:off x="0" y="5789520"/>
            <a:ext cx="3398040" cy="10681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bk object 19"/>
          <p:cNvSpPr/>
          <p:nvPr/>
        </p:nvSpPr>
        <p:spPr>
          <a:xfrm>
            <a:off x="0" y="5784480"/>
            <a:ext cx="3371400" cy="10731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45840" y="1446120"/>
            <a:ext cx="7017120" cy="1058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pt-BR" sz="2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2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ftr" idx="10"/>
          </p:nvPr>
        </p:nvSpPr>
        <p:spPr>
          <a:xfrm>
            <a:off x="3733920" y="6540120"/>
            <a:ext cx="4575960" cy="18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1260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&lt;rodapé&gt;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1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12"/>
          </p:nvPr>
        </p:nvSpPr>
        <p:spPr>
          <a:xfrm>
            <a:off x="8686440" y="6540120"/>
            <a:ext cx="261360" cy="20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556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2556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fld id="{FE948631-C623-4D83-9531-3CE7749B9735}" type="slidenum"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k object 16"/>
          <p:cNvSpPr/>
          <p:nvPr/>
        </p:nvSpPr>
        <p:spPr>
          <a:xfrm>
            <a:off x="499320" y="5945040"/>
            <a:ext cx="4897440" cy="912600"/>
          </a:xfrm>
          <a:custGeom>
            <a:avLst/>
            <a:gdLst>
              <a:gd name="textAreaLeft" fmla="*/ 0 w 4897440"/>
              <a:gd name="textAreaRight" fmla="*/ 4897800 w 4897440"/>
              <a:gd name="textAreaTop" fmla="*/ 0 h 912600"/>
              <a:gd name="textAreaBottom" fmla="*/ 912960 h 912600"/>
            </a:gdLst>
            <a:ahLst/>
            <a:cxnLst/>
            <a:rect l="textAreaLeft" t="textAreaTop" r="textAreaRight" b="textAreaBottom"/>
            <a:pathLst>
              <a:path w="4897755" h="913129">
                <a:moveTo>
                  <a:pt x="85714" y="21358"/>
                </a:moveTo>
                <a:lnTo>
                  <a:pt x="3636693" y="913063"/>
                </a:lnTo>
                <a:lnTo>
                  <a:pt x="4897393" y="913063"/>
                </a:lnTo>
                <a:lnTo>
                  <a:pt x="85714" y="21358"/>
                </a:lnTo>
                <a:close/>
              </a:path>
              <a:path w="4897755" h="913129">
                <a:moveTo>
                  <a:pt x="660" y="0"/>
                </a:moveTo>
                <a:lnTo>
                  <a:pt x="0" y="5473"/>
                </a:lnTo>
                <a:lnTo>
                  <a:pt x="85714" y="21358"/>
                </a:lnTo>
                <a:lnTo>
                  <a:pt x="660" y="0"/>
                </a:lnTo>
                <a:close/>
              </a:path>
            </a:pathLst>
          </a:custGeom>
          <a:solidFill>
            <a:srgbClr val="9FCADC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bk object 17"/>
          <p:cNvSpPr/>
          <p:nvPr/>
        </p:nvSpPr>
        <p:spPr>
          <a:xfrm>
            <a:off x="485640" y="5938920"/>
            <a:ext cx="3651480" cy="919080"/>
          </a:xfrm>
          <a:custGeom>
            <a:avLst/>
            <a:gdLst>
              <a:gd name="textAreaLeft" fmla="*/ 0 w 3651480"/>
              <a:gd name="textAreaRight" fmla="*/ 3651840 w 3651480"/>
              <a:gd name="textAreaTop" fmla="*/ 0 h 919080"/>
              <a:gd name="textAreaBottom" fmla="*/ 919440 h 919080"/>
            </a:gdLst>
            <a:ahLst/>
            <a:cxnLst/>
            <a:rect l="textAreaLeft" t="textAreaTop" r="textAreaRight" b="textAreaBottom"/>
            <a:pathLst>
              <a:path w="3651885" h="919479">
                <a:moveTo>
                  <a:pt x="0" y="0"/>
                </a:moveTo>
                <a:lnTo>
                  <a:pt x="7924" y="6349"/>
                </a:lnTo>
                <a:lnTo>
                  <a:pt x="2868867" y="918982"/>
                </a:lnTo>
                <a:lnTo>
                  <a:pt x="3651882" y="91898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bk object 18"/>
          <p:cNvSpPr/>
          <p:nvPr/>
        </p:nvSpPr>
        <p:spPr>
          <a:xfrm>
            <a:off x="0" y="5789520"/>
            <a:ext cx="3398040" cy="10681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bk object 19"/>
          <p:cNvSpPr/>
          <p:nvPr/>
        </p:nvSpPr>
        <p:spPr>
          <a:xfrm>
            <a:off x="0" y="5784480"/>
            <a:ext cx="3371400" cy="10731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ftr" idx="13"/>
          </p:nvPr>
        </p:nvSpPr>
        <p:spPr>
          <a:xfrm>
            <a:off x="3733920" y="6540120"/>
            <a:ext cx="4575960" cy="18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1260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&lt;rodapé&gt;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dt" idx="14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15"/>
          </p:nvPr>
        </p:nvSpPr>
        <p:spPr>
          <a:xfrm>
            <a:off x="8686440" y="6540120"/>
            <a:ext cx="261360" cy="20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556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2556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fld id="{B1783B7C-EFCA-4ED1-8601-54DE593637A9}" type="slidenum"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object 7"/>
          <p:cNvSpPr/>
          <p:nvPr/>
        </p:nvSpPr>
        <p:spPr>
          <a:xfrm>
            <a:off x="336240" y="3400560"/>
            <a:ext cx="8451000" cy="16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2275920" indent="-2263680" defTabSz="914400">
              <a:lnSpc>
                <a:spcPct val="10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pt-BR" sz="5400" b="0" u="none" spc="164" strike="noStrike">
                <a:solidFill>
                  <a:srgbClr val="DA1F28"/>
                </a:solidFill>
                <a:effectLst/>
                <a:uFillTx/>
                <a:latin typeface="Arial"/>
              </a:rPr>
              <a:t>Eletrônica </a:t>
            </a:r>
            <a:r>
              <a:rPr lang="pt-BR" sz="5400" b="0" u="none" spc="6" strike="noStrike">
                <a:solidFill>
                  <a:srgbClr val="DA1F28"/>
                </a:solidFill>
                <a:effectLst/>
                <a:uFillTx/>
                <a:latin typeface="Arial"/>
              </a:rPr>
              <a:t>e </a:t>
            </a:r>
            <a:r>
              <a:rPr lang="pt-BR" sz="5400" b="0" u="none" spc="156" strike="noStrike">
                <a:solidFill>
                  <a:srgbClr val="DA1F28"/>
                </a:solidFill>
                <a:effectLst/>
                <a:uFillTx/>
                <a:latin typeface="Arial"/>
              </a:rPr>
              <a:t>Programação  </a:t>
            </a:r>
            <a:r>
              <a:rPr lang="pt-BR" sz="5400" b="0" u="none" spc="269" strike="noStrike">
                <a:solidFill>
                  <a:srgbClr val="DA1F28"/>
                </a:solidFill>
                <a:effectLst/>
                <a:uFillTx/>
                <a:latin typeface="Arial"/>
              </a:rPr>
              <a:t>em</a:t>
            </a:r>
            <a:r>
              <a:rPr lang="pt-BR" sz="5400" b="0" u="none" spc="204" strike="noStrike">
                <a:solidFill>
                  <a:srgbClr val="DA1F28"/>
                </a:solidFill>
                <a:effectLst/>
                <a:uFillTx/>
                <a:latin typeface="Arial"/>
              </a:rPr>
              <a:t> </a:t>
            </a:r>
            <a:r>
              <a:rPr lang="pt-BR" sz="5400" b="0" u="none" spc="326" strike="noStrike">
                <a:solidFill>
                  <a:srgbClr val="DA1F28"/>
                </a:solidFill>
                <a:effectLst/>
                <a:uFillTx/>
                <a:latin typeface="Arial"/>
              </a:rPr>
              <a:t>Arduino</a:t>
            </a:r>
            <a:endParaRPr lang="pt-BR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CaixaDeTexto 8"/>
          <p:cNvSpPr/>
          <p:nvPr/>
        </p:nvSpPr>
        <p:spPr>
          <a:xfrm>
            <a:off x="466200" y="2054880"/>
            <a:ext cx="819036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Fundamento de Informática</a:t>
            </a:r>
            <a:endParaRPr lang="pt-BR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" name="Picture 2" descr="http://eteczonaleste.com.br/2018/assets/img/logo-etec.png"/>
          <p:cNvPicPr/>
          <p:nvPr/>
        </p:nvPicPr>
        <p:blipFill>
          <a:blip r:embed="rId1"/>
          <a:stretch/>
        </p:blipFill>
        <p:spPr>
          <a:xfrm>
            <a:off x="6934320" y="5181480"/>
            <a:ext cx="1847520" cy="14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CaixaDeTexto 9"/>
          <p:cNvSpPr/>
          <p:nvPr/>
        </p:nvSpPr>
        <p:spPr>
          <a:xfrm>
            <a:off x="321480" y="6095880"/>
            <a:ext cx="32090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Inventar e Reciclar para Educar 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Picture 4" descr="Resultado de imagem para logotipo arduino"/>
          <p:cNvPicPr/>
          <p:nvPr/>
        </p:nvPicPr>
        <p:blipFill>
          <a:blip r:embed="rId2"/>
          <a:stretch/>
        </p:blipFill>
        <p:spPr>
          <a:xfrm>
            <a:off x="609480" y="233640"/>
            <a:ext cx="1675800" cy="1823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45840" y="1465920"/>
            <a:ext cx="7017840" cy="39384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268560" indent="-256680" algn="just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pt-BR" sz="1800" b="0" u="none" spc="-505" strike="noStrike">
                <a:solidFill>
                  <a:srgbClr val="2CA1BE"/>
                </a:solidFill>
                <a:effectLst/>
                <a:uFillTx/>
                <a:latin typeface="Arial"/>
              </a:rPr>
              <a:t>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ftr" idx="16"/>
          </p:nvPr>
        </p:nvSpPr>
        <p:spPr>
          <a:xfrm>
            <a:off x="3733920" y="6540120"/>
            <a:ext cx="4575960" cy="187560"/>
          </a:xfrm>
          <a:prstGeom prst="rect">
            <a:avLst/>
          </a:prstGeom>
          <a:noFill/>
          <a:ln w="0">
            <a:noFill/>
          </a:ln>
        </p:spPr>
        <p:txBody>
          <a:bodyPr lIns="0" tIns="2520" rIns="0" bIns="0" anchor="t">
            <a:spAutoFit/>
          </a:bodyPr>
          <a:lstStyle>
            <a:lvl1pPr marL="1260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1260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r>
              <a: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ETECZL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– Aulas de Fundamentos Informática-Arduino</a:t>
            </a:r>
            <a:r>
              <a: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-</a:t>
            </a:r>
            <a:r>
              <a:rPr lang="pt-BR" sz="1200" b="1" u="none" spc="-11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@2019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object 7"/>
          <p:cNvSpPr/>
          <p:nvPr/>
        </p:nvSpPr>
        <p:spPr>
          <a:xfrm>
            <a:off x="8610480" y="6540120"/>
            <a:ext cx="33624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520" rIns="0" bIns="0" anchor="t">
            <a:spAutoFit/>
          </a:bodyPr>
          <a:p>
            <a:pPr marL="25560" defTabSz="914400">
              <a:lnSpc>
                <a:spcPct val="100000"/>
              </a:lnSpc>
              <a:spcBef>
                <a:spcPts val="20"/>
              </a:spcBef>
            </a:pPr>
            <a:fld id="{65E8A94C-B83B-4024-8893-4DCB0A9FC389}" type="slidenum"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CaixaDeTexto 1"/>
          <p:cNvSpPr/>
          <p:nvPr/>
        </p:nvSpPr>
        <p:spPr>
          <a:xfrm>
            <a:off x="1219320" y="533520"/>
            <a:ext cx="632412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TECLADO DE MEMBRANA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m 8" descr="Tela de computador com texto preto sobre fundo branco&#10;&#10;Descrição gerada automaticamente"/>
          <p:cNvPicPr/>
          <p:nvPr/>
        </p:nvPicPr>
        <p:blipFill>
          <a:blip r:embed="rId1"/>
          <a:stretch/>
        </p:blipFill>
        <p:spPr>
          <a:xfrm>
            <a:off x="914400" y="1465920"/>
            <a:ext cx="7314840" cy="36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787680" y="533520"/>
            <a:ext cx="7017120" cy="55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pt-BR" sz="3600" b="1" u="none" spc="-6" strike="noStrike">
                <a:solidFill>
                  <a:schemeClr val="dk1"/>
                </a:solidFill>
                <a:effectLst/>
                <a:uFillTx/>
                <a:latin typeface="Verdana"/>
              </a:rPr>
              <a:t>TECLADO DE MEMBRANA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1204920" y="1143000"/>
            <a:ext cx="6733800" cy="215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just">
              <a:lnSpc>
                <a:spcPct val="100000"/>
              </a:lnSpc>
              <a:spcBef>
                <a:spcPts val="6"/>
              </a:spcBef>
              <a:buNone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Este Teclado Matricial 4×4 é um componente do Arduino muito utilizado para entrada de dados. Ele possui 16 teclas dispostas em 4 linhas x 4 colunas, e um conector de 8 pinos para ligação: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9" name="Imagem 4"/>
          <p:cNvPicPr/>
          <p:nvPr/>
        </p:nvPicPr>
        <p:blipFill>
          <a:blip r:embed="rId1"/>
          <a:stretch/>
        </p:blipFill>
        <p:spPr>
          <a:xfrm>
            <a:off x="2590920" y="3312720"/>
            <a:ext cx="3762720" cy="3388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762120" y="435960"/>
            <a:ext cx="7924320" cy="78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4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Pinagem Teclado Matricial 4X4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1068840" y="1688400"/>
            <a:ext cx="7005960" cy="406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343080" indent="-34308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Internamente são 16 teclas push-buttons tipo membrana dispostos na configuração a seguir em um formato keypad. Conforme a tecla é pressionada, é feita a conexão entre a linha e a coluna correspondentes. Se pressionarmos a tecla A no teclado matricial, será feita a conexão entre os pinos 1 (linha 1) e 8 (coluna 4), se pressionarmos a tecla 7, será feita uma conexão entre os pinos 3 (linha 3)  e 5 (coluna 1), e assim por diante: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Veja na figura a seguir: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ftr" idx="17"/>
          </p:nvPr>
        </p:nvSpPr>
        <p:spPr>
          <a:xfrm>
            <a:off x="3733920" y="6540120"/>
            <a:ext cx="4575960" cy="187560"/>
          </a:xfrm>
          <a:prstGeom prst="rect">
            <a:avLst/>
          </a:prstGeom>
          <a:noFill/>
          <a:ln w="0">
            <a:noFill/>
          </a:ln>
        </p:spPr>
        <p:txBody>
          <a:bodyPr lIns="0" tIns="2520" rIns="0" bIns="0" anchor="t">
            <a:spAutoFit/>
          </a:bodyPr>
          <a:lstStyle>
            <a:lvl1pPr marL="1260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1260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r>
              <a: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ETECZL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– Aulas de Fundamentos Informática-Arduino</a:t>
            </a:r>
            <a:r>
              <a: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-</a:t>
            </a:r>
            <a:r>
              <a:rPr lang="pt-BR" sz="1200" b="1" u="none" spc="-11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@2019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object 7"/>
          <p:cNvSpPr/>
          <p:nvPr/>
        </p:nvSpPr>
        <p:spPr>
          <a:xfrm>
            <a:off x="8610480" y="6540120"/>
            <a:ext cx="33624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520" rIns="0" bIns="0" anchor="t">
            <a:spAutoFit/>
          </a:bodyPr>
          <a:p>
            <a:pPr marL="25560" defTabSz="914400">
              <a:lnSpc>
                <a:spcPct val="100000"/>
              </a:lnSpc>
              <a:spcBef>
                <a:spcPts val="20"/>
              </a:spcBef>
            </a:pPr>
            <a:fld id="{28CCFBE9-E7E0-40CE-BF00-0F3470EDF3E4}" type="slidenum"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CaixaDeTexto 8"/>
          <p:cNvSpPr/>
          <p:nvPr/>
        </p:nvSpPr>
        <p:spPr>
          <a:xfrm>
            <a:off x="1219320" y="533520"/>
            <a:ext cx="632412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TECLADO DE MEMBRANA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Imagem 12" descr="Tela de computador com texto preto sobre fundo branco&#10;&#10;Descrição gerada automaticamente"/>
          <p:cNvPicPr/>
          <p:nvPr/>
        </p:nvPicPr>
        <p:blipFill>
          <a:blip r:embed="rId1"/>
          <a:stretch/>
        </p:blipFill>
        <p:spPr>
          <a:xfrm>
            <a:off x="1659960" y="1828800"/>
            <a:ext cx="5823360" cy="3705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ftr" idx="18"/>
          </p:nvPr>
        </p:nvSpPr>
        <p:spPr>
          <a:xfrm>
            <a:off x="3733920" y="6540120"/>
            <a:ext cx="4575960" cy="187560"/>
          </a:xfrm>
          <a:prstGeom prst="rect">
            <a:avLst/>
          </a:prstGeom>
          <a:noFill/>
          <a:ln w="0">
            <a:noFill/>
          </a:ln>
        </p:spPr>
        <p:txBody>
          <a:bodyPr lIns="0" tIns="2520" rIns="0" bIns="0" anchor="t">
            <a:spAutoFit/>
          </a:bodyPr>
          <a:lstStyle>
            <a:lvl1pPr marL="1260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1260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r>
              <a: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ETECZL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– Aulas de Fundamentos Informática-Arduino</a:t>
            </a:r>
            <a:r>
              <a: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-</a:t>
            </a:r>
            <a:r>
              <a:rPr lang="pt-BR" sz="1200" b="1" u="none" spc="-11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@2019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ldNum" idx="19"/>
          </p:nvPr>
        </p:nvSpPr>
        <p:spPr>
          <a:xfrm>
            <a:off x="8648280" y="6540120"/>
            <a:ext cx="299520" cy="187560"/>
          </a:xfrm>
          <a:prstGeom prst="rect">
            <a:avLst/>
          </a:prstGeom>
          <a:noFill/>
          <a:ln w="0">
            <a:noFill/>
          </a:ln>
        </p:spPr>
        <p:txBody>
          <a:bodyPr lIns="0" tIns="2520" rIns="0" bIns="0" anchor="t">
            <a:spAutoFit/>
          </a:bodyPr>
          <a:lstStyle>
            <a:lvl1pPr marL="2556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2556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fld id="{31A3AE83-EE04-4E43-9E58-28D5F92CB665}" type="slidenum"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Retângulo 9"/>
          <p:cNvSpPr/>
          <p:nvPr/>
        </p:nvSpPr>
        <p:spPr>
          <a:xfrm>
            <a:off x="2133720" y="191160"/>
            <a:ext cx="4577040" cy="13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4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Conectando Teclado </a:t>
            </a:r>
            <a:endParaRPr lang="pt-B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4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Matricial ao Arduino</a:t>
            </a:r>
            <a:endParaRPr lang="pt-B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etângulo 10"/>
          <p:cNvSpPr/>
          <p:nvPr/>
        </p:nvSpPr>
        <p:spPr>
          <a:xfrm>
            <a:off x="952200" y="1752480"/>
            <a:ext cx="7695720" cy="353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Neste exemplo vamos utilizar 8 portas do Arduino para ligação ao teclado matricial, sendo 4 para as linhas, e 4 para as colunas. Os pinos das linhas deverão ser configurados como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OUTPUT (Saída)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 e os pinos das colunas como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INPUT (Entrada)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 Nos pinos referente às colunas, vamos utilizar 4 resistores pull-down, mantendo-as em nível baixo quando não houver acionamento das teclas: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ftr" idx="20"/>
          </p:nvPr>
        </p:nvSpPr>
        <p:spPr>
          <a:xfrm>
            <a:off x="3733920" y="6540120"/>
            <a:ext cx="4575960" cy="187560"/>
          </a:xfrm>
          <a:prstGeom prst="rect">
            <a:avLst/>
          </a:prstGeom>
          <a:noFill/>
          <a:ln w="0">
            <a:noFill/>
          </a:ln>
        </p:spPr>
        <p:txBody>
          <a:bodyPr lIns="0" tIns="2520" rIns="0" bIns="0" anchor="t">
            <a:spAutoFit/>
          </a:bodyPr>
          <a:lstStyle>
            <a:lvl1pPr marL="1260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1260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r>
              <a: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ETECZL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– Aulas de Fundamentos Informática-Arduino</a:t>
            </a:r>
            <a:r>
              <a: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-</a:t>
            </a:r>
            <a:r>
              <a:rPr lang="pt-BR" sz="1200" b="1" u="none" spc="-11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@2019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ldNum" idx="21"/>
          </p:nvPr>
        </p:nvSpPr>
        <p:spPr>
          <a:xfrm>
            <a:off x="8610480" y="6540120"/>
            <a:ext cx="336960" cy="187560"/>
          </a:xfrm>
          <a:prstGeom prst="rect">
            <a:avLst/>
          </a:prstGeom>
          <a:noFill/>
          <a:ln w="0">
            <a:noFill/>
          </a:ln>
        </p:spPr>
        <p:txBody>
          <a:bodyPr lIns="0" tIns="2520" rIns="0" bIns="0" anchor="t">
            <a:spAutoFit/>
          </a:bodyPr>
          <a:lstStyle>
            <a:lvl1pPr marL="2556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2556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fld id="{41413002-CDED-4D03-A657-2B06F019CE80}" type="slidenum"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Retângulo 9"/>
          <p:cNvSpPr/>
          <p:nvPr/>
        </p:nvSpPr>
        <p:spPr>
          <a:xfrm>
            <a:off x="2283480" y="380880"/>
            <a:ext cx="4577040" cy="13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4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Conectando Teclado </a:t>
            </a:r>
            <a:endParaRPr lang="pt-B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4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Matricial ao Arduino</a:t>
            </a:r>
            <a:endParaRPr lang="pt-B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Imagem 11"/>
          <p:cNvPicPr/>
          <p:nvPr/>
        </p:nvPicPr>
        <p:blipFill>
          <a:blip r:embed="rId1"/>
          <a:stretch/>
        </p:blipFill>
        <p:spPr>
          <a:xfrm>
            <a:off x="2283480" y="1704600"/>
            <a:ext cx="4419360" cy="4591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tângulo 5"/>
          <p:cNvSpPr/>
          <p:nvPr/>
        </p:nvSpPr>
        <p:spPr>
          <a:xfrm>
            <a:off x="571680" y="380880"/>
            <a:ext cx="8000640" cy="10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Programando o Arduino para mapeamento das teclas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etângulo 6"/>
          <p:cNvSpPr/>
          <p:nvPr/>
        </p:nvSpPr>
        <p:spPr>
          <a:xfrm>
            <a:off x="838080" y="1859400"/>
            <a:ext cx="7733880" cy="440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 programa, primeiro definimos todos os pinos das linhas como saída (pinos 3, 4, 5 e 6), e os pinos de colunas como entrada (pinos 8,9,10 e 11). Um loop se encarrega de colocar cada pino de saída (linhas) em estado alto (HIGH), e verificar se alguma tecla foi pressionada, por meio de um comando IF para cada coluna. Caso isso aconteça, é gerada uma saída no serial monitor com a informação correspondente à qual tecla foi pressionada no teclado matricial: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ftr" idx="22"/>
          </p:nvPr>
        </p:nvSpPr>
        <p:spPr>
          <a:xfrm>
            <a:off x="3733920" y="6540120"/>
            <a:ext cx="4575960" cy="187560"/>
          </a:xfrm>
          <a:prstGeom prst="rect">
            <a:avLst/>
          </a:prstGeom>
          <a:noFill/>
          <a:ln w="0">
            <a:noFill/>
          </a:ln>
        </p:spPr>
        <p:txBody>
          <a:bodyPr lIns="0" tIns="2520" rIns="0" bIns="0" anchor="t">
            <a:spAutoFit/>
          </a:bodyPr>
          <a:lstStyle>
            <a:lvl1pPr marL="1260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1260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r>
              <a: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ETECZL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– Aulas de Fundamentos Informática-Arduino</a:t>
            </a:r>
            <a:r>
              <a: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-</a:t>
            </a:r>
            <a:r>
              <a:rPr lang="pt-BR" sz="1200" b="1" u="none" spc="-11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@2019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ldNum" idx="23"/>
          </p:nvPr>
        </p:nvSpPr>
        <p:spPr>
          <a:xfrm>
            <a:off x="8610480" y="6540120"/>
            <a:ext cx="336960" cy="187560"/>
          </a:xfrm>
          <a:prstGeom prst="rect">
            <a:avLst/>
          </a:prstGeom>
          <a:noFill/>
          <a:ln w="0">
            <a:noFill/>
          </a:ln>
        </p:spPr>
        <p:txBody>
          <a:bodyPr lIns="0" tIns="2520" rIns="0" bIns="0" anchor="t">
            <a:spAutoFit/>
          </a:bodyPr>
          <a:lstStyle>
            <a:lvl1pPr marL="2556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2556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fld id="{067954DF-893F-4578-ACE9-277BC9153958}" type="slidenum"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8" name="Imagem 10"/>
          <p:cNvPicPr/>
          <p:nvPr/>
        </p:nvPicPr>
        <p:blipFill>
          <a:blip r:embed="rId1"/>
          <a:stretch/>
        </p:blipFill>
        <p:spPr>
          <a:xfrm>
            <a:off x="1328040" y="304920"/>
            <a:ext cx="6139440" cy="5409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m 5"/>
          <p:cNvPicPr/>
          <p:nvPr/>
        </p:nvPicPr>
        <p:blipFill>
          <a:blip r:embed="rId1"/>
          <a:stretch/>
        </p:blipFill>
        <p:spPr>
          <a:xfrm>
            <a:off x="1714680" y="304920"/>
            <a:ext cx="5714640" cy="5486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Imagem 1"/>
          <p:cNvPicPr/>
          <p:nvPr/>
        </p:nvPicPr>
        <p:blipFill>
          <a:blip r:embed="rId1"/>
          <a:stretch/>
        </p:blipFill>
        <p:spPr>
          <a:xfrm>
            <a:off x="1066680" y="609480"/>
            <a:ext cx="6677280" cy="4723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tângulo 6"/>
          <p:cNvSpPr/>
          <p:nvPr/>
        </p:nvSpPr>
        <p:spPr>
          <a:xfrm>
            <a:off x="571680" y="1513080"/>
            <a:ext cx="8000640" cy="31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5840" indent="-28584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Configuramos o programa para mostrar a informação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Linha x Coluna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da tecla pressionada. Carregado o programa no Arduino, abra o serial monitor e acione as teclas, e você terá um resultado como esse abaixo: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teclado nada mais é do que uma série de push-buttons dispostos em forma de matriz.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etângulo 7"/>
          <p:cNvSpPr/>
          <p:nvPr/>
        </p:nvSpPr>
        <p:spPr>
          <a:xfrm>
            <a:off x="571680" y="380880"/>
            <a:ext cx="8000640" cy="10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Programando o Arduino para mapeamento das teclas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aixaDeTexto 1"/>
          <p:cNvSpPr/>
          <p:nvPr/>
        </p:nvSpPr>
        <p:spPr>
          <a:xfrm>
            <a:off x="228600" y="1459080"/>
            <a:ext cx="21808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 de Entrega: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08/06/2026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tângulo 2"/>
          <p:cNvSpPr/>
          <p:nvPr/>
        </p:nvSpPr>
        <p:spPr>
          <a:xfrm>
            <a:off x="571680" y="380880"/>
            <a:ext cx="800064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Exercícios Prático de Fixação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CaixaDeTexto 3"/>
          <p:cNvSpPr/>
          <p:nvPr/>
        </p:nvSpPr>
        <p:spPr>
          <a:xfrm>
            <a:off x="856800" y="2598480"/>
            <a:ext cx="7429680" cy="31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5840" indent="-28584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Cancela com senha: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Desenvolver um protótipo  com teclado de membrana, servo motor e LEDs de acordo com as  instruções a seguir: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Antes de digitar a senha a cancela deve estar Fechada e o LED vermelho acesso, assim que a senha for digitada e for correta o LED verde acende o vermelho apaga e a cancela movimenta 90º, após alguns segundos a cancela volta a ficar fecha , com o led Verde apagado e  cancela na posição inicial e o Led vermelho volta acender 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Fazer o diagrama para respectivo o protótipo no tinkercad e após o projeto físico.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ítulo 1"/>
          <p:cNvSpPr/>
          <p:nvPr/>
        </p:nvSpPr>
        <p:spPr>
          <a:xfrm>
            <a:off x="1523880" y="244440"/>
            <a:ext cx="7017120" cy="38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24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Circuito Básico do teclado Membrana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Imagem 4"/>
          <p:cNvPicPr/>
          <p:nvPr/>
        </p:nvPicPr>
        <p:blipFill>
          <a:blip r:embed="rId1"/>
          <a:stretch/>
        </p:blipFill>
        <p:spPr>
          <a:xfrm>
            <a:off x="1752480" y="857160"/>
            <a:ext cx="5333760" cy="5756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523880" y="244440"/>
            <a:ext cx="7017120" cy="38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pt-BR" sz="25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Programação do Básico do teclado Membrana</a:t>
            </a:r>
            <a:endParaRPr lang="pt-BR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9" name="Imagem 3"/>
          <p:cNvPicPr/>
          <p:nvPr/>
        </p:nvPicPr>
        <p:blipFill>
          <a:blip r:embed="rId1"/>
          <a:stretch/>
        </p:blipFill>
        <p:spPr>
          <a:xfrm>
            <a:off x="528480" y="629280"/>
            <a:ext cx="8335080" cy="5983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85800" y="2126160"/>
            <a:ext cx="7772040" cy="123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pt-BR" sz="80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FIM</a:t>
            </a:r>
            <a:endParaRPr lang="pt-BR" sz="8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Retângulo 3"/>
          <p:cNvSpPr/>
          <p:nvPr/>
        </p:nvSpPr>
        <p:spPr>
          <a:xfrm>
            <a:off x="3811680" y="6495120"/>
            <a:ext cx="49525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12600" defTabSz="914400">
              <a:lnSpc>
                <a:spcPct val="100000"/>
              </a:lnSpc>
              <a:spcBef>
                <a:spcPts val="20"/>
              </a:spcBef>
            </a:pPr>
            <a:r>
              <a:rPr lang="pt-BR" sz="1200" b="1" u="none" spc="-6" strike="noStrike">
                <a:solidFill>
                  <a:srgbClr val="002060"/>
                </a:solidFill>
                <a:effectLst/>
                <a:uFillTx/>
                <a:latin typeface="Liberation Sans Narrow"/>
              </a:rPr>
              <a:t>ETECZL </a:t>
            </a:r>
            <a:r>
              <a:rPr lang="pt-BR" sz="1200" b="1" u="none" strike="noStrike">
                <a:solidFill>
                  <a:srgbClr val="002060"/>
                </a:solidFill>
                <a:effectLst/>
                <a:uFillTx/>
                <a:latin typeface="Liberation Sans Narrow"/>
              </a:rPr>
              <a:t>– Aulas de Fundamentos Informática-Arduino</a:t>
            </a:r>
            <a:r>
              <a:rPr lang="pt-BR" sz="1200" b="1" u="none" spc="-6" strike="noStrike">
                <a:solidFill>
                  <a:srgbClr val="002060"/>
                </a:solidFill>
                <a:effectLst/>
                <a:uFillTx/>
                <a:latin typeface="Liberation Sans Narrow"/>
              </a:rPr>
              <a:t> </a:t>
            </a:r>
            <a:r>
              <a:rPr lang="pt-BR" sz="1200" b="1" u="none" strike="noStrike">
                <a:solidFill>
                  <a:srgbClr val="002060"/>
                </a:solidFill>
                <a:effectLst/>
                <a:uFillTx/>
                <a:latin typeface="Liberation Sans Narrow"/>
              </a:rPr>
              <a:t>-</a:t>
            </a:r>
            <a:r>
              <a:rPr lang="pt-BR" sz="1200" b="1" u="none" spc="-11" strike="noStrike">
                <a:solidFill>
                  <a:srgbClr val="002060"/>
                </a:solidFill>
                <a:effectLst/>
                <a:uFillTx/>
                <a:latin typeface="Liberation Sans Narrow"/>
              </a:rPr>
              <a:t> </a:t>
            </a:r>
            <a:r>
              <a:rPr lang="pt-BR" sz="1200" b="1" u="none" strike="noStrike">
                <a:solidFill>
                  <a:srgbClr val="002060"/>
                </a:solidFill>
                <a:effectLst/>
                <a:uFillTx/>
                <a:latin typeface="Liberation Sans Narrow"/>
              </a:rPr>
              <a:t>@2019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ldNum" idx="24"/>
          </p:nvPr>
        </p:nvSpPr>
        <p:spPr>
          <a:xfrm>
            <a:off x="8610480" y="6540120"/>
            <a:ext cx="336960" cy="187560"/>
          </a:xfrm>
          <a:prstGeom prst="rect">
            <a:avLst/>
          </a:prstGeom>
          <a:noFill/>
          <a:ln w="0">
            <a:noFill/>
          </a:ln>
        </p:spPr>
        <p:txBody>
          <a:bodyPr lIns="0" tIns="2520" rIns="0" bIns="0" anchor="t">
            <a:spAutoFit/>
          </a:bodyPr>
          <a:lstStyle>
            <a:lvl1pPr marL="2556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2556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155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8118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488</TotalTime>
  <Application>LibreOffice/26.2.3.2$Windows_X86_64 LibreOffice_project/70e089b17412e4cb7773e41413306b17a2328c34</Application>
  <AppVersion>15.0000</AppVersion>
  <Words>524</Words>
  <Paragraphs>42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2018-09-13T18:52:53Z</dcterms:created>
  <dc:creator>Anderson perez</dc:creator>
  <dc:description/>
  <dc:language>pt-BR</dc:language>
  <cp:lastModifiedBy/>
  <dcterms:modified xsi:type="dcterms:W3CDTF">2026-05-31T21:58:23Z</dcterms:modified>
  <cp:revision>35</cp:revision>
  <dc:subject/>
  <dc:title>Oficina de Robótica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2014-05-15T00:00:00Z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2018-09-13T00:00:00Z</vt:filetime>
  </property>
  <property fmtid="{D5CDD505-2E9C-101B-9397-08002B2CF9AE}" pid="5" name="PresentationFormat">
    <vt:lpwstr>Apresentação na tela (4:3)</vt:lpwstr>
  </property>
  <property fmtid="{D5CDD505-2E9C-101B-9397-08002B2CF9AE}" pid="6" name="Slides">
    <vt:i4>16</vt:i4>
  </property>
</Properties>
</file>